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93" r:id="rId4"/>
    <p:sldId id="258" r:id="rId5"/>
    <p:sldId id="259" r:id="rId6"/>
    <p:sldId id="260" r:id="rId7"/>
    <p:sldId id="261" r:id="rId8"/>
    <p:sldId id="265" r:id="rId9"/>
    <p:sldId id="262" r:id="rId10"/>
    <p:sldId id="263" r:id="rId11"/>
    <p:sldId id="266" r:id="rId12"/>
    <p:sldId id="264" r:id="rId13"/>
    <p:sldId id="267" r:id="rId14"/>
    <p:sldId id="268" r:id="rId15"/>
    <p:sldId id="269" r:id="rId16"/>
    <p:sldId id="270" r:id="rId17"/>
    <p:sldId id="271" r:id="rId18"/>
    <p:sldId id="273" r:id="rId19"/>
    <p:sldId id="272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91" r:id="rId36"/>
    <p:sldId id="289" r:id="rId37"/>
    <p:sldId id="295" r:id="rId38"/>
    <p:sldId id="294" r:id="rId39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79DC"/>
    <a:srgbClr val="390091"/>
    <a:srgbClr val="011222"/>
    <a:srgbClr val="0103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43" d="100"/>
          <a:sy n="43" d="100"/>
        </p:scale>
        <p:origin x="2412" y="60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69DA0-F883-406C-B51F-C9ACBF630623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07E78-579D-4A87-8773-E61EE3E058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4141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69DA0-F883-406C-B51F-C9ACBF630623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07E78-579D-4A87-8773-E61EE3E058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9597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69DA0-F883-406C-B51F-C9ACBF630623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07E78-579D-4A87-8773-E61EE3E058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558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69DA0-F883-406C-B51F-C9ACBF630623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07E78-579D-4A87-8773-E61EE3E058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286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69DA0-F883-406C-B51F-C9ACBF630623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07E78-579D-4A87-8773-E61EE3E058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7762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69DA0-F883-406C-B51F-C9ACBF630623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07E78-579D-4A87-8773-E61EE3E058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7106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69DA0-F883-406C-B51F-C9ACBF630623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07E78-579D-4A87-8773-E61EE3E058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4592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69DA0-F883-406C-B51F-C9ACBF630623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07E78-579D-4A87-8773-E61EE3E058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6499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69DA0-F883-406C-B51F-C9ACBF630623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07E78-579D-4A87-8773-E61EE3E058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0948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69DA0-F883-406C-B51F-C9ACBF630623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07E78-579D-4A87-8773-E61EE3E058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3999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69DA0-F883-406C-B51F-C9ACBF630623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07E78-579D-4A87-8773-E61EE3E058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3678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969DA0-F883-406C-B51F-C9ACBF630623}" type="datetimeFigureOut">
              <a:rPr lang="pt-BR" smtClean="0"/>
              <a:t>16/11/2025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707E78-579D-4A87-8773-E61EE3E058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7177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D4247C3C-F8F1-6A3E-031E-D463C9C01E58}"/>
              </a:ext>
            </a:extLst>
          </p:cNvPr>
          <p:cNvSpPr/>
          <p:nvPr/>
        </p:nvSpPr>
        <p:spPr>
          <a:xfrm>
            <a:off x="0" y="0"/>
            <a:ext cx="6858000" cy="10103005"/>
          </a:xfrm>
          <a:prstGeom prst="rect">
            <a:avLst/>
          </a:prstGeom>
          <a:solidFill>
            <a:srgbClr val="01030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FB6C799-1004-D788-1996-310642293B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" y="1271449"/>
            <a:ext cx="6858000" cy="68580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79CFA07-D840-F9DA-0B9D-E1626B5978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0" y="1932665"/>
            <a:ext cx="1404715" cy="1580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1DD3BECF-FBEF-D8D9-6546-94242310BCFD}"/>
              </a:ext>
            </a:extLst>
          </p:cNvPr>
          <p:cNvSpPr txBox="1"/>
          <p:nvPr/>
        </p:nvSpPr>
        <p:spPr>
          <a:xfrm>
            <a:off x="3223811" y="6828643"/>
            <a:ext cx="3803003" cy="1569660"/>
          </a:xfrm>
          <a:prstGeom prst="rect">
            <a:avLst/>
          </a:prstGeom>
          <a:noFill/>
          <a:effectLst>
            <a:glow rad="139700">
              <a:srgbClr val="390091">
                <a:alpha val="40000"/>
              </a:srgbClr>
            </a:glow>
          </a:effectLst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effectLst>
                  <a:glow>
                    <a:srgbClr val="390091">
                      <a:alpha val="48000"/>
                    </a:srgbClr>
                  </a:glow>
                  <a:outerShdw blurRad="50800" dist="50800" dir="5400000" algn="ctr" rotWithShape="0">
                    <a:srgbClr val="7030A0"/>
                  </a:outerShdw>
                </a:effectLs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Domine o Código além da Sintaxe</a:t>
            </a:r>
            <a:endParaRPr lang="pt-BR" sz="3600" dirty="0">
              <a:solidFill>
                <a:schemeClr val="bg1"/>
              </a:solidFill>
              <a:effectLst>
                <a:glow>
                  <a:srgbClr val="390091">
                    <a:alpha val="48000"/>
                  </a:srgbClr>
                </a:glow>
              </a:effectLst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endParaRPr lang="pt-BR" sz="2400" dirty="0">
              <a:effectLst>
                <a:glow rad="63500">
                  <a:schemeClr val="accent6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FEC8A44-A47F-8999-2A9E-657E12D95D79}"/>
              </a:ext>
            </a:extLst>
          </p:cNvPr>
          <p:cNvSpPr txBox="1"/>
          <p:nvPr/>
        </p:nvSpPr>
        <p:spPr>
          <a:xfrm>
            <a:off x="47625" y="1221314"/>
            <a:ext cx="2762250" cy="1015663"/>
          </a:xfrm>
          <a:prstGeom prst="rect">
            <a:avLst/>
          </a:prstGeom>
          <a:noFill/>
          <a:effectLst>
            <a:glow rad="139700">
              <a:srgbClr val="390091">
                <a:alpha val="40000"/>
              </a:srgbClr>
            </a:glow>
          </a:effectLst>
        </p:spPr>
        <p:txBody>
          <a:bodyPr wrap="square" rtlCol="0">
            <a:spAutoFit/>
          </a:bodyPr>
          <a:lstStyle/>
          <a:p>
            <a:pPr algn="just"/>
            <a:r>
              <a:rPr lang="pt-BR" sz="6000" dirty="0">
                <a:solidFill>
                  <a:schemeClr val="bg1"/>
                </a:solidFill>
                <a:effectLst>
                  <a:glow>
                    <a:srgbClr val="390091"/>
                  </a:glow>
                  <a:outerShdw blurRad="50800" dist="50800" dir="5400000" algn="ctr" rotWithShape="0">
                    <a:srgbClr val="7030A0"/>
                  </a:outerShdw>
                </a:effectLs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Codex</a:t>
            </a:r>
            <a:endParaRPr lang="pt-BR" sz="5400" dirty="0">
              <a:solidFill>
                <a:schemeClr val="bg1"/>
              </a:solidFill>
              <a:effectLst>
                <a:glow>
                  <a:srgbClr val="390091"/>
                </a:glow>
                <a:outerShdw blurRad="50800" dist="50800" dir="5400000" algn="ctr" rotWithShape="0">
                  <a:srgbClr val="7030A0"/>
                </a:outerShdw>
              </a:effectLst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C7AE6D9-E778-2BE5-1AFC-B418302A5889}"/>
              </a:ext>
            </a:extLst>
          </p:cNvPr>
          <p:cNvSpPr txBox="1"/>
          <p:nvPr/>
        </p:nvSpPr>
        <p:spPr>
          <a:xfrm>
            <a:off x="1626248" y="9137477"/>
            <a:ext cx="3803002" cy="1015663"/>
          </a:xfrm>
          <a:prstGeom prst="rect">
            <a:avLst/>
          </a:prstGeom>
          <a:noFill/>
          <a:effectLst>
            <a:glow rad="381000">
              <a:srgbClr val="390091"/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sz="3600" dirty="0">
                <a:solidFill>
                  <a:schemeClr val="bg1">
                    <a:alpha val="85000"/>
                  </a:schemeClr>
                </a:solidFill>
                <a:effectLst>
                  <a:glow>
                    <a:schemeClr val="bg1">
                      <a:alpha val="90000"/>
                    </a:schemeClr>
                  </a:glow>
                  <a:outerShdw blurRad="50800" dist="50800" dir="5400000" algn="ctr" rotWithShape="0">
                    <a:srgbClr val="7030A0"/>
                  </a:outerShdw>
                </a:effectLs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Genildon Barreto</a:t>
            </a:r>
            <a:endParaRPr lang="pt-BR" sz="3600" dirty="0">
              <a:solidFill>
                <a:schemeClr val="bg1">
                  <a:alpha val="85000"/>
                </a:schemeClr>
              </a:solidFill>
              <a:effectLst>
                <a:glow>
                  <a:schemeClr val="bg1">
                    <a:alpha val="90000"/>
                  </a:schemeClr>
                </a:glow>
              </a:effectLst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algn="ctr"/>
            <a:endParaRPr lang="pt-BR" sz="2400" dirty="0">
              <a:effectLst>
                <a:glow rad="63500">
                  <a:schemeClr val="accent6">
                    <a:satMod val="175000"/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63364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CF4838B4-BECC-6ABA-8605-4654C7EF3487}"/>
              </a:ext>
            </a:extLst>
          </p:cNvPr>
          <p:cNvSpPr txBox="1"/>
          <p:nvPr/>
        </p:nvSpPr>
        <p:spPr>
          <a:xfrm>
            <a:off x="397727" y="309178"/>
            <a:ext cx="62260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Impact" panose="020B0806030902050204" pitchFamily="34" charset="0"/>
                <a:cs typeface="Calibri Light" panose="020F0302020204030204" pitchFamily="34" charset="0"/>
              </a:rPr>
              <a:t>Lorem ipsum dolor </a:t>
            </a:r>
            <a:r>
              <a:rPr lang="pt-BR" sz="4000" b="1" dirty="0" err="1">
                <a:latin typeface="Impact" panose="020B0806030902050204" pitchFamily="34" charset="0"/>
                <a:cs typeface="Calibri Light" panose="020F0302020204030204" pitchFamily="34" charset="0"/>
              </a:rPr>
              <a:t>sit</a:t>
            </a:r>
            <a:r>
              <a:rPr lang="pt-BR" sz="4000" b="1" dirty="0">
                <a:latin typeface="Impact" panose="020B0806030902050204" pitchFamily="34" charset="0"/>
                <a:cs typeface="Calibri Light" panose="020F0302020204030204" pitchFamily="34" charset="0"/>
              </a:rPr>
              <a:t> </a:t>
            </a:r>
            <a:r>
              <a:rPr lang="pt-BR" sz="4000" b="1" dirty="0" err="1">
                <a:latin typeface="Impact" panose="020B0806030902050204" pitchFamily="34" charset="0"/>
                <a:cs typeface="Calibri Light" panose="020F0302020204030204" pitchFamily="34" charset="0"/>
              </a:rPr>
              <a:t>amet</a:t>
            </a:r>
            <a:endParaRPr lang="pt-BR" sz="4000" b="1" dirty="0">
              <a:latin typeface="Impact" panose="020B080603090205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E33355A-AF4C-F928-F103-6BD6B8C61D90}"/>
              </a:ext>
            </a:extLst>
          </p:cNvPr>
          <p:cNvSpPr txBox="1"/>
          <p:nvPr/>
        </p:nvSpPr>
        <p:spPr>
          <a:xfrm>
            <a:off x="397726" y="2039617"/>
            <a:ext cx="388062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3796696-6A4B-35CC-88D4-2F1C0E6C7C3A}"/>
              </a:ext>
            </a:extLst>
          </p:cNvPr>
          <p:cNvSpPr txBox="1"/>
          <p:nvPr/>
        </p:nvSpPr>
        <p:spPr>
          <a:xfrm>
            <a:off x="397726" y="1235953"/>
            <a:ext cx="52893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latin typeface="+mj-lt"/>
              </a:rPr>
              <a:t>Lorem ipsum dolor sit </a:t>
            </a:r>
            <a:r>
              <a:rPr lang="pt-BR" sz="3200" dirty="0" err="1">
                <a:latin typeface="+mj-lt"/>
              </a:rPr>
              <a:t>amet</a:t>
            </a:r>
            <a:r>
              <a:rPr lang="pt-BR" sz="3200" dirty="0">
                <a:latin typeface="+mj-lt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2259091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3D864-F62F-5422-3638-D0EF890FD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C955E8EB-CA9D-4569-54BE-F16BFF89EBE3}"/>
              </a:ext>
            </a:extLst>
          </p:cNvPr>
          <p:cNvSpPr/>
          <p:nvPr/>
        </p:nvSpPr>
        <p:spPr>
          <a:xfrm rot="16200000">
            <a:off x="11318" y="507130"/>
            <a:ext cx="1436192" cy="255675"/>
          </a:xfrm>
          <a:prstGeom prst="rect">
            <a:avLst/>
          </a:prstGeom>
          <a:gradFill flip="none" rotWithShape="1">
            <a:gsLst>
              <a:gs pos="0">
                <a:srgbClr val="A179DC">
                  <a:tint val="66000"/>
                  <a:satMod val="160000"/>
                </a:srgbClr>
              </a:gs>
              <a:gs pos="50000">
                <a:srgbClr val="A179DC">
                  <a:tint val="44500"/>
                  <a:satMod val="160000"/>
                </a:srgbClr>
              </a:gs>
              <a:gs pos="100000">
                <a:srgbClr val="A179DC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A179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7E902B0-A4F2-6290-4B99-34D5B6E2826E}"/>
              </a:ext>
            </a:extLst>
          </p:cNvPr>
          <p:cNvSpPr txBox="1"/>
          <p:nvPr/>
        </p:nvSpPr>
        <p:spPr>
          <a:xfrm>
            <a:off x="990599" y="275846"/>
            <a:ext cx="551497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/>
              <a:t>Por que C# é o Seu Próximo Superpoder</a:t>
            </a:r>
            <a:endParaRPr lang="pt-BR" sz="32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59A1404-C608-B9E3-036F-952A56F18429}"/>
              </a:ext>
            </a:extLst>
          </p:cNvPr>
          <p:cNvSpPr txBox="1"/>
          <p:nvPr/>
        </p:nvSpPr>
        <p:spPr>
          <a:xfrm>
            <a:off x="487883" y="1397668"/>
            <a:ext cx="5882233" cy="858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C# é uma das linguagens mais versáteis e poderosas do ecossistema moderno. Com ela você cria APIs robustas, jogos completos com Unity, automações escaláveis, serviços web de alta performance, aplicações desktop profissionais e até sistemas distribuídos que rodam em nuvem. Seu ecossistema é maduro, bem documentado e apoiado por uma comunidade global que evolui constantemente, tornando C# uma escolha sólida tanto para quem está iniciando quanto para quem busca se profissionalizar em projetos complexos. Além disso, a linguagem combina clareza com profundidade, permitindo escrever código elegante sem abrir mão de funcionalidades avançadas.</a:t>
            </a:r>
            <a:endParaRPr lang="pt-BR" sz="1050" dirty="0"/>
          </a:p>
          <a:p>
            <a:endParaRPr lang="pt-BR" sz="1600" dirty="0"/>
          </a:p>
          <a:p>
            <a:r>
              <a:rPr lang="pt-BR" sz="2400" dirty="0"/>
              <a:t>Este </a:t>
            </a:r>
            <a:r>
              <a:rPr lang="pt-BR" sz="2400" dirty="0" err="1"/>
              <a:t>eBook</a:t>
            </a:r>
            <a:r>
              <a:rPr lang="pt-BR" sz="2400" dirty="0"/>
              <a:t> foi projetado para guiar você por esse universo de forma prática, direta e inteligente. O objetivo é que você entenda não apenas </a:t>
            </a:r>
            <a:r>
              <a:rPr lang="pt-BR" sz="2400" i="1" dirty="0"/>
              <a:t>como</a:t>
            </a:r>
            <a:r>
              <a:rPr lang="pt-BR" sz="2400" dirty="0"/>
              <a:t> escrever código, mas </a:t>
            </a:r>
            <a:r>
              <a:rPr lang="pt-BR" sz="2400" i="1" dirty="0"/>
              <a:t>por que</a:t>
            </a:r>
            <a:r>
              <a:rPr lang="pt-BR" sz="2400" dirty="0"/>
              <a:t> ele funciona, e como aplicar cada técnica para resolver problemas reais.</a:t>
            </a:r>
          </a:p>
        </p:txBody>
      </p:sp>
    </p:spTree>
    <p:extLst>
      <p:ext uri="{BB962C8B-B14F-4D97-AF65-F5344CB8AC3E}">
        <p14:creationId xmlns:p14="http://schemas.microsoft.com/office/powerpoint/2010/main" val="3394025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B84D9927-5399-066E-89D5-83B0DEA9B39A}"/>
              </a:ext>
            </a:extLst>
          </p:cNvPr>
          <p:cNvSpPr/>
          <p:nvPr/>
        </p:nvSpPr>
        <p:spPr>
          <a:xfrm>
            <a:off x="-178420" y="0"/>
            <a:ext cx="7337503" cy="101699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8454F84-D002-8529-881C-50006F223312}"/>
              </a:ext>
            </a:extLst>
          </p:cNvPr>
          <p:cNvSpPr txBox="1"/>
          <p:nvPr/>
        </p:nvSpPr>
        <p:spPr>
          <a:xfrm>
            <a:off x="1437576" y="68198"/>
            <a:ext cx="4105508" cy="501675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32000" dirty="0">
                <a:ln w="101600" cmpd="sng">
                  <a:solidFill>
                    <a:srgbClr val="A179DC"/>
                  </a:solidFill>
                </a:ln>
                <a:latin typeface="Impact" panose="020B0806030902050204" pitchFamily="34" charset="0"/>
              </a:rPr>
              <a:t>01</a:t>
            </a:r>
            <a:endParaRPr lang="pt-BR" sz="32000" dirty="0">
              <a:ln w="101600" cmpd="sng">
                <a:solidFill>
                  <a:srgbClr val="A179DC"/>
                </a:solidFill>
              </a:ln>
              <a:latin typeface="Impact" panose="020B080603090205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FFBC564-1FFE-7BD4-A089-22F454271055}"/>
              </a:ext>
            </a:extLst>
          </p:cNvPr>
          <p:cNvSpPr txBox="1"/>
          <p:nvPr/>
        </p:nvSpPr>
        <p:spPr>
          <a:xfrm>
            <a:off x="528752" y="5319090"/>
            <a:ext cx="580049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600" dirty="0">
                <a:solidFill>
                  <a:schemeClr val="bg1"/>
                </a:solidFill>
                <a:latin typeface="Impact" panose="020B0806030902050204" pitchFamily="34" charset="0"/>
              </a:rPr>
              <a:t>Fundamentos que Moldam o Desenvolvedor</a:t>
            </a:r>
            <a:endParaRPr lang="pt-BR" sz="5600" dirty="0">
              <a:solidFill>
                <a:schemeClr val="bg1"/>
              </a:solidFill>
              <a:latin typeface="Impact" panose="020B080603090205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101B0E4-B22C-29FA-DEA5-82ADC6401057}"/>
              </a:ext>
            </a:extLst>
          </p:cNvPr>
          <p:cNvSpPr/>
          <p:nvPr/>
        </p:nvSpPr>
        <p:spPr>
          <a:xfrm>
            <a:off x="546407" y="8230881"/>
            <a:ext cx="5887844" cy="171900"/>
          </a:xfrm>
          <a:prstGeom prst="rect">
            <a:avLst/>
          </a:prstGeom>
          <a:gradFill flip="none" rotWithShape="1">
            <a:gsLst>
              <a:gs pos="0">
                <a:srgbClr val="A179DC">
                  <a:tint val="66000"/>
                  <a:satMod val="160000"/>
                </a:srgbClr>
              </a:gs>
              <a:gs pos="50000">
                <a:srgbClr val="A179DC">
                  <a:tint val="44500"/>
                  <a:satMod val="160000"/>
                </a:srgbClr>
              </a:gs>
              <a:gs pos="100000">
                <a:srgbClr val="A179DC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A179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72956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A5438C99-961E-E0A1-6EA2-CD241BBBF189}"/>
              </a:ext>
            </a:extLst>
          </p:cNvPr>
          <p:cNvSpPr txBox="1"/>
          <p:nvPr/>
        </p:nvSpPr>
        <p:spPr>
          <a:xfrm>
            <a:off x="990599" y="275846"/>
            <a:ext cx="551497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/>
              <a:t>A Estrutura de um Programa C#: Seu Primeiro Feitiço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1331800-23B2-31F7-2D46-F68C701FF6D7}"/>
              </a:ext>
            </a:extLst>
          </p:cNvPr>
          <p:cNvSpPr txBox="1"/>
          <p:nvPr/>
        </p:nvSpPr>
        <p:spPr>
          <a:xfrm>
            <a:off x="498767" y="1600047"/>
            <a:ext cx="588223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Em C#, todo programa começa com uma estrutura mínima composta de: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/>
              <a:t>instruções </a:t>
            </a:r>
            <a:r>
              <a:rPr lang="pt-BR" sz="1600" b="1" dirty="0" err="1"/>
              <a:t>using</a:t>
            </a:r>
            <a:r>
              <a:rPr lang="pt-BR" sz="1600" dirty="0"/>
              <a:t> (importações);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/>
              <a:t>uma classe principal;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/>
              <a:t>o método </a:t>
            </a:r>
            <a:r>
              <a:rPr lang="pt-BR" sz="1600" b="1" dirty="0" err="1"/>
              <a:t>Main</a:t>
            </a:r>
            <a:r>
              <a:rPr lang="pt-BR" sz="1600" dirty="0"/>
              <a:t>, que é o ponto de entrada do programa.</a:t>
            </a: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7C7B9CB9-113D-9BED-7613-0F9E075D1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574" y="3225807"/>
            <a:ext cx="5904000" cy="3331252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275AA9BD-F89C-157E-8876-860946CF5BEE}"/>
              </a:ext>
            </a:extLst>
          </p:cNvPr>
          <p:cNvSpPr txBox="1"/>
          <p:nvPr/>
        </p:nvSpPr>
        <p:spPr>
          <a:xfrm>
            <a:off x="498766" y="6609442"/>
            <a:ext cx="619196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Em automações corporativas, por exemplo, esse ponto de entrada é onde você define inicializações importantes: carregar configurações, iniciar logs, estabelecer conexões ou até validar permissões. Em jogos criados com Unity, embora exista outra estrutura no motor gráfico, o conceito é o mesmo: há sempre um ponto inicial que rege o fluxo da lógica.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71233019-CA00-60C4-5CD3-3B6E79B96CFB}"/>
              </a:ext>
            </a:extLst>
          </p:cNvPr>
          <p:cNvSpPr/>
          <p:nvPr/>
        </p:nvSpPr>
        <p:spPr>
          <a:xfrm rot="16200000">
            <a:off x="11318" y="507130"/>
            <a:ext cx="1436192" cy="255675"/>
          </a:xfrm>
          <a:prstGeom prst="rect">
            <a:avLst/>
          </a:prstGeom>
          <a:gradFill flip="none" rotWithShape="1">
            <a:gsLst>
              <a:gs pos="0">
                <a:srgbClr val="A179DC">
                  <a:tint val="66000"/>
                  <a:satMod val="160000"/>
                </a:srgbClr>
              </a:gs>
              <a:gs pos="50000">
                <a:srgbClr val="A179DC">
                  <a:tint val="44500"/>
                  <a:satMod val="160000"/>
                </a:srgbClr>
              </a:gs>
              <a:gs pos="100000">
                <a:srgbClr val="A179DC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A179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07768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8C093-532A-FF8C-70C2-6A0AF0991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B90BB1F1-0FF7-8B4D-9C8C-3CBA24FCC1F1}"/>
              </a:ext>
            </a:extLst>
          </p:cNvPr>
          <p:cNvSpPr txBox="1"/>
          <p:nvPr/>
        </p:nvSpPr>
        <p:spPr>
          <a:xfrm>
            <a:off x="990599" y="275846"/>
            <a:ext cx="551497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/>
              <a:t>Variáveis e Tipos: Os Atributos do Seu Personagem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DF7D539-E0DE-4A78-4D69-A4190CE4D31B}"/>
              </a:ext>
            </a:extLst>
          </p:cNvPr>
          <p:cNvSpPr txBox="1"/>
          <p:nvPr/>
        </p:nvSpPr>
        <p:spPr>
          <a:xfrm>
            <a:off x="498767" y="1671673"/>
            <a:ext cx="51489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C# é fortemente </a:t>
            </a:r>
            <a:r>
              <a:rPr lang="pt-BR" sz="2400" dirty="0" err="1"/>
              <a:t>tipado</a:t>
            </a:r>
            <a:r>
              <a:rPr lang="pt-BR" sz="2400" dirty="0"/>
              <a:t>. Isso ajuda você a evitar erros antes mesmo de rodar o código.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4F18D89-D7F3-FE9D-8E29-F0F44E60F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00" y="2872002"/>
            <a:ext cx="5904000" cy="352477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5C8D7916-A998-932E-C74D-519F4B7D792F}"/>
              </a:ext>
            </a:extLst>
          </p:cNvPr>
          <p:cNvSpPr txBox="1"/>
          <p:nvPr/>
        </p:nvSpPr>
        <p:spPr>
          <a:xfrm>
            <a:off x="477000" y="6396778"/>
            <a:ext cx="619142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Contexto real:</a:t>
            </a:r>
            <a:br>
              <a:rPr lang="pt-BR" sz="2400" dirty="0"/>
            </a:br>
            <a:r>
              <a:rPr lang="pt-BR" sz="2400" dirty="0"/>
              <a:t>Ao desenvolver sistemas de cadastro, cada variável representa um atributo real — nome, idade, saldo, status — e tipos incorretos podem gerar inconsistências sérias. Em uma aplicação financeira, por exemplo, trabalhar com tipagem adequada (inteiros, decimais, booleanos) evita erros de arredondamento ou comportamentos inesperados.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A0CE88B-993E-A9BF-32D9-A566A453054F}"/>
              </a:ext>
            </a:extLst>
          </p:cNvPr>
          <p:cNvSpPr/>
          <p:nvPr/>
        </p:nvSpPr>
        <p:spPr>
          <a:xfrm rot="16200000">
            <a:off x="11318" y="507130"/>
            <a:ext cx="1436192" cy="255675"/>
          </a:xfrm>
          <a:prstGeom prst="rect">
            <a:avLst/>
          </a:prstGeom>
          <a:gradFill flip="none" rotWithShape="1">
            <a:gsLst>
              <a:gs pos="0">
                <a:srgbClr val="A179DC">
                  <a:tint val="66000"/>
                  <a:satMod val="160000"/>
                </a:srgbClr>
              </a:gs>
              <a:gs pos="50000">
                <a:srgbClr val="A179DC">
                  <a:tint val="44500"/>
                  <a:satMod val="160000"/>
                </a:srgbClr>
              </a:gs>
              <a:gs pos="100000">
                <a:srgbClr val="A179DC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A179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63159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F48CA-7CCB-47FE-7DD0-C662FCEFA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8E452EC9-BD7F-8E5A-A580-905232775539}"/>
              </a:ext>
            </a:extLst>
          </p:cNvPr>
          <p:cNvSpPr txBox="1"/>
          <p:nvPr/>
        </p:nvSpPr>
        <p:spPr>
          <a:xfrm>
            <a:off x="990599" y="275846"/>
            <a:ext cx="551497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/>
              <a:t>Operadores: Ferramentas de Batalha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CAA3F3F-2A17-D805-F673-B5E7C7F405E9}"/>
              </a:ext>
            </a:extLst>
          </p:cNvPr>
          <p:cNvSpPr txBox="1"/>
          <p:nvPr/>
        </p:nvSpPr>
        <p:spPr>
          <a:xfrm>
            <a:off x="477000" y="1498953"/>
            <a:ext cx="602857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/>
              <a:t>Operadores aritméticos, lógicos e relacionais permitem que você transforme dados e tome decisões. Eles são usados para cálculos, incrementos, validações e comparações.</a:t>
            </a:r>
            <a:endParaRPr lang="pt-BR" sz="24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82C9B63-F8FF-72B7-68ED-7DCDA4988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00" y="3275305"/>
            <a:ext cx="5904000" cy="272073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D045E55C-7C80-1A61-D94E-2BD0520D3D00}"/>
              </a:ext>
            </a:extLst>
          </p:cNvPr>
          <p:cNvSpPr txBox="1"/>
          <p:nvPr/>
        </p:nvSpPr>
        <p:spPr>
          <a:xfrm>
            <a:off x="477000" y="6202736"/>
            <a:ext cx="51489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Contexto real:</a:t>
            </a:r>
            <a:br>
              <a:rPr lang="pt-BR" sz="2400" dirty="0"/>
            </a:br>
            <a:r>
              <a:rPr lang="pt-BR" sz="2400" dirty="0"/>
              <a:t>Sistemas de gamificação usam operadores para atualizar pontos, níveis ou status do jogador. Plataformas de e-commerce usam operadores relacionais para validar descontos, estoque, valores mínimos para frete, entre outros.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9332F20-010A-0DF2-A95D-EE4BA6CFB4BE}"/>
              </a:ext>
            </a:extLst>
          </p:cNvPr>
          <p:cNvSpPr/>
          <p:nvPr/>
        </p:nvSpPr>
        <p:spPr>
          <a:xfrm rot="16200000">
            <a:off x="11318" y="507130"/>
            <a:ext cx="1436192" cy="255675"/>
          </a:xfrm>
          <a:prstGeom prst="rect">
            <a:avLst/>
          </a:prstGeom>
          <a:gradFill flip="none" rotWithShape="1">
            <a:gsLst>
              <a:gs pos="0">
                <a:srgbClr val="A179DC">
                  <a:tint val="66000"/>
                  <a:satMod val="160000"/>
                </a:srgbClr>
              </a:gs>
              <a:gs pos="50000">
                <a:srgbClr val="A179DC">
                  <a:tint val="44500"/>
                  <a:satMod val="160000"/>
                </a:srgbClr>
              </a:gs>
              <a:gs pos="100000">
                <a:srgbClr val="A179DC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A179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87877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BE6E6-254A-FA58-911F-61CFA0FC0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815E3908-1845-A181-94A1-6134BACC1987}"/>
              </a:ext>
            </a:extLst>
          </p:cNvPr>
          <p:cNvSpPr/>
          <p:nvPr/>
        </p:nvSpPr>
        <p:spPr>
          <a:xfrm>
            <a:off x="-178420" y="0"/>
            <a:ext cx="7337503" cy="101699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00ECE91-54BA-5ADB-8C09-E7C09E60C36E}"/>
              </a:ext>
            </a:extLst>
          </p:cNvPr>
          <p:cNvSpPr txBox="1"/>
          <p:nvPr/>
        </p:nvSpPr>
        <p:spPr>
          <a:xfrm>
            <a:off x="1437576" y="68198"/>
            <a:ext cx="4506024" cy="501675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32000" dirty="0">
                <a:ln w="101600" cmpd="sng">
                  <a:solidFill>
                    <a:srgbClr val="A179DC"/>
                  </a:solidFill>
                </a:ln>
                <a:latin typeface="Impact" panose="020B0806030902050204" pitchFamily="34" charset="0"/>
              </a:rPr>
              <a:t>02</a:t>
            </a:r>
            <a:endParaRPr lang="pt-BR" sz="32000" dirty="0">
              <a:ln w="101600" cmpd="sng">
                <a:solidFill>
                  <a:srgbClr val="A179DC"/>
                </a:solidFill>
              </a:ln>
              <a:latin typeface="Impact" panose="020B080603090205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A096F66-234A-49B5-3456-0195F5FBEE1F}"/>
              </a:ext>
            </a:extLst>
          </p:cNvPr>
          <p:cNvSpPr txBox="1"/>
          <p:nvPr/>
        </p:nvSpPr>
        <p:spPr>
          <a:xfrm>
            <a:off x="485078" y="6156377"/>
            <a:ext cx="588784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600" dirty="0">
                <a:solidFill>
                  <a:schemeClr val="bg1"/>
                </a:solidFill>
                <a:latin typeface="Impact" panose="020B0806030902050204" pitchFamily="34" charset="0"/>
              </a:rPr>
              <a:t>Lógica e Estruturas de Controle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68C21E8-5A36-A910-6F4F-F38ED0961B38}"/>
              </a:ext>
            </a:extLst>
          </p:cNvPr>
          <p:cNvSpPr/>
          <p:nvPr/>
        </p:nvSpPr>
        <p:spPr>
          <a:xfrm>
            <a:off x="546407" y="8230881"/>
            <a:ext cx="5887844" cy="171900"/>
          </a:xfrm>
          <a:prstGeom prst="rect">
            <a:avLst/>
          </a:prstGeom>
          <a:gradFill flip="none" rotWithShape="1">
            <a:gsLst>
              <a:gs pos="0">
                <a:srgbClr val="A179DC">
                  <a:tint val="66000"/>
                  <a:satMod val="160000"/>
                </a:srgbClr>
              </a:gs>
              <a:gs pos="50000">
                <a:srgbClr val="A179DC">
                  <a:tint val="44500"/>
                  <a:satMod val="160000"/>
                </a:srgbClr>
              </a:gs>
              <a:gs pos="100000">
                <a:srgbClr val="A179DC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A179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2831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BA338-1A5B-A338-0C39-71B2E0248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E2C18D13-9A3D-4CA8-0624-29120A106668}"/>
              </a:ext>
            </a:extLst>
          </p:cNvPr>
          <p:cNvSpPr txBox="1"/>
          <p:nvPr/>
        </p:nvSpPr>
        <p:spPr>
          <a:xfrm>
            <a:off x="990599" y="275846"/>
            <a:ext cx="55149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/>
              <a:t>Condicionais: Portais de Decisão</a:t>
            </a:r>
            <a:endParaRPr lang="pt-BR" sz="32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61374DC-7D96-1680-3F9A-BAA98C51F65C}"/>
              </a:ext>
            </a:extLst>
          </p:cNvPr>
          <p:cNvSpPr txBox="1"/>
          <p:nvPr/>
        </p:nvSpPr>
        <p:spPr>
          <a:xfrm>
            <a:off x="498767" y="1553119"/>
            <a:ext cx="602857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As estruturas condicionais permitem que o programa se adapte às situações. Elas são essenciais para qualquer sistema real, pois quase tudo envolve decisões: verificar permissões, validar entradas, controlar fluxos.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BD69766-7EAF-3AC1-327A-16DF4A4FB98F}"/>
              </a:ext>
            </a:extLst>
          </p:cNvPr>
          <p:cNvSpPr txBox="1"/>
          <p:nvPr/>
        </p:nvSpPr>
        <p:spPr>
          <a:xfrm>
            <a:off x="477000" y="6551680"/>
            <a:ext cx="602857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Contexto real:</a:t>
            </a:r>
            <a:br>
              <a:rPr lang="pt-BR" sz="2400" dirty="0"/>
            </a:br>
            <a:r>
              <a:rPr lang="pt-BR" sz="2400" dirty="0"/>
              <a:t>Em uma API, decisões condicionais verificam se o cliente enviou dados válidos, se o token é autêntico, se o usuário possui permissão ou se a operação é permitida. Em jogos, regras como “energia baixa”, “inimigo próximo” ou “item disponível” são sempre condicionais.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BBE1754D-EC6E-3782-7FCC-F51235B5D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00" y="3692166"/>
            <a:ext cx="5904000" cy="2659459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501A7739-B65F-6A6D-96AC-8CD8F8B7D9C1}"/>
              </a:ext>
            </a:extLst>
          </p:cNvPr>
          <p:cNvSpPr/>
          <p:nvPr/>
        </p:nvSpPr>
        <p:spPr>
          <a:xfrm rot="16200000">
            <a:off x="11318" y="507130"/>
            <a:ext cx="1436192" cy="255675"/>
          </a:xfrm>
          <a:prstGeom prst="rect">
            <a:avLst/>
          </a:prstGeom>
          <a:gradFill flip="none" rotWithShape="1">
            <a:gsLst>
              <a:gs pos="0">
                <a:srgbClr val="A179DC">
                  <a:tint val="66000"/>
                  <a:satMod val="160000"/>
                </a:srgbClr>
              </a:gs>
              <a:gs pos="50000">
                <a:srgbClr val="A179DC">
                  <a:tint val="44500"/>
                  <a:satMod val="160000"/>
                </a:srgbClr>
              </a:gs>
              <a:gs pos="100000">
                <a:srgbClr val="A179DC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A179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20618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6245A-18BA-F500-5AAA-5305377AA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A31472A-80E0-B540-C766-1FDFCF724D28}"/>
              </a:ext>
            </a:extLst>
          </p:cNvPr>
          <p:cNvSpPr txBox="1"/>
          <p:nvPr/>
        </p:nvSpPr>
        <p:spPr>
          <a:xfrm>
            <a:off x="990599" y="275846"/>
            <a:ext cx="551497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/>
              <a:t>Loops: Ciclos Infinito… mas Controlados</a:t>
            </a:r>
            <a:endParaRPr lang="pt-BR" sz="32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BC14858-8A0C-C9B3-3E12-1611861F020D}"/>
              </a:ext>
            </a:extLst>
          </p:cNvPr>
          <p:cNvSpPr txBox="1"/>
          <p:nvPr/>
        </p:nvSpPr>
        <p:spPr>
          <a:xfrm>
            <a:off x="498766" y="1649486"/>
            <a:ext cx="600680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/>
              <a:t>Loops permitem repetir ações automaticamente. Eles percorrem coleções, executam verificações contínuas ou processam grandes quantidades de dados.</a:t>
            </a:r>
            <a:endParaRPr lang="pt-BR" sz="24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B81D548-64F0-892C-2AC9-0D522C9DB879}"/>
              </a:ext>
            </a:extLst>
          </p:cNvPr>
          <p:cNvSpPr txBox="1"/>
          <p:nvPr/>
        </p:nvSpPr>
        <p:spPr>
          <a:xfrm>
            <a:off x="477000" y="6158131"/>
            <a:ext cx="5904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Contexto real:</a:t>
            </a:r>
            <a:br>
              <a:rPr lang="pt-BR" sz="2400" dirty="0"/>
            </a:br>
            <a:r>
              <a:rPr lang="pt-BR" sz="2400" dirty="0"/>
              <a:t>Em dashboards de </a:t>
            </a:r>
            <a:r>
              <a:rPr lang="pt-BR" sz="2400" dirty="0" err="1"/>
              <a:t>analytics</a:t>
            </a:r>
            <a:r>
              <a:rPr lang="pt-BR" sz="2400" dirty="0"/>
              <a:t>, loops percorrem milhares de registros para consolidar métricas. Em automações, loops analisam arquivos dentro de pastas, processam lotes de dados ou enviam requisições sequenciais para APIs.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BBB8B43-D18A-817B-40DB-E54F44E5B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00" y="3478802"/>
            <a:ext cx="5904000" cy="2419672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6EEB594D-AAC9-12DE-77DC-AFE99EC09461}"/>
              </a:ext>
            </a:extLst>
          </p:cNvPr>
          <p:cNvSpPr/>
          <p:nvPr/>
        </p:nvSpPr>
        <p:spPr>
          <a:xfrm rot="16200000">
            <a:off x="11318" y="507130"/>
            <a:ext cx="1436192" cy="255675"/>
          </a:xfrm>
          <a:prstGeom prst="rect">
            <a:avLst/>
          </a:prstGeom>
          <a:gradFill flip="none" rotWithShape="1">
            <a:gsLst>
              <a:gs pos="0">
                <a:srgbClr val="A179DC">
                  <a:tint val="66000"/>
                  <a:satMod val="160000"/>
                </a:srgbClr>
              </a:gs>
              <a:gs pos="50000">
                <a:srgbClr val="A179DC">
                  <a:tint val="44500"/>
                  <a:satMod val="160000"/>
                </a:srgbClr>
              </a:gs>
              <a:gs pos="100000">
                <a:srgbClr val="A179DC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A179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51948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599FB-0C5B-087E-3D99-9BFA40E50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8C7FF54-423A-7A99-F81D-628850B0BBB0}"/>
              </a:ext>
            </a:extLst>
          </p:cNvPr>
          <p:cNvSpPr/>
          <p:nvPr/>
        </p:nvSpPr>
        <p:spPr>
          <a:xfrm>
            <a:off x="-178420" y="0"/>
            <a:ext cx="7337503" cy="101699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AC3C9B9-1934-58DE-2CE9-4DB897AFEC7C}"/>
              </a:ext>
            </a:extLst>
          </p:cNvPr>
          <p:cNvSpPr txBox="1"/>
          <p:nvPr/>
        </p:nvSpPr>
        <p:spPr>
          <a:xfrm>
            <a:off x="1437576" y="68198"/>
            <a:ext cx="4830342" cy="501675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32000" dirty="0">
                <a:ln w="101600" cmpd="sng">
                  <a:solidFill>
                    <a:srgbClr val="A179DC"/>
                  </a:solidFill>
                </a:ln>
                <a:latin typeface="Impact" panose="020B0806030902050204" pitchFamily="34" charset="0"/>
              </a:rPr>
              <a:t>03</a:t>
            </a:r>
            <a:endParaRPr lang="pt-BR" sz="32000" dirty="0">
              <a:ln w="101600" cmpd="sng">
                <a:solidFill>
                  <a:srgbClr val="A179DC"/>
                </a:solidFill>
              </a:ln>
              <a:latin typeface="Impact" panose="020B080603090205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CBD479E-7CF5-FDAB-D4B2-4B78C71CFB8B}"/>
              </a:ext>
            </a:extLst>
          </p:cNvPr>
          <p:cNvSpPr txBox="1"/>
          <p:nvPr/>
        </p:nvSpPr>
        <p:spPr>
          <a:xfrm>
            <a:off x="546407" y="5269863"/>
            <a:ext cx="58878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600" dirty="0">
                <a:solidFill>
                  <a:schemeClr val="bg1"/>
                </a:solidFill>
                <a:latin typeface="Impact" panose="020B0806030902050204" pitchFamily="34" charset="0"/>
              </a:rPr>
              <a:t>Métodos e Organização de Código</a:t>
            </a:r>
            <a:endParaRPr lang="pt-BR" sz="5600" b="1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43AE9D5-D8C2-C78E-9478-4A02CCBC54CB}"/>
              </a:ext>
            </a:extLst>
          </p:cNvPr>
          <p:cNvSpPr/>
          <p:nvPr/>
        </p:nvSpPr>
        <p:spPr>
          <a:xfrm>
            <a:off x="546407" y="8230881"/>
            <a:ext cx="5887844" cy="171900"/>
          </a:xfrm>
          <a:prstGeom prst="rect">
            <a:avLst/>
          </a:prstGeom>
          <a:gradFill flip="none" rotWithShape="1">
            <a:gsLst>
              <a:gs pos="0">
                <a:srgbClr val="A179DC">
                  <a:tint val="66000"/>
                  <a:satMod val="160000"/>
                </a:srgbClr>
              </a:gs>
              <a:gs pos="50000">
                <a:srgbClr val="A179DC">
                  <a:tint val="44500"/>
                  <a:satMod val="160000"/>
                </a:srgbClr>
              </a:gs>
              <a:gs pos="100000">
                <a:srgbClr val="A179DC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A179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48217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98005-1F19-7EB6-3F62-93ACA3659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F137DA3F-52F4-AE44-E3FE-0CA78442BB1C}"/>
              </a:ext>
            </a:extLst>
          </p:cNvPr>
          <p:cNvSpPr txBox="1"/>
          <p:nvPr/>
        </p:nvSpPr>
        <p:spPr>
          <a:xfrm>
            <a:off x="990599" y="275846"/>
            <a:ext cx="55149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/>
              <a:t>Métodos: Feitiços Reutilizáveis</a:t>
            </a:r>
            <a:endParaRPr lang="pt-BR" sz="32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8BE86B6-1B8F-BC19-3A2A-50EB71D3FB62}"/>
              </a:ext>
            </a:extLst>
          </p:cNvPr>
          <p:cNvSpPr txBox="1"/>
          <p:nvPr/>
        </p:nvSpPr>
        <p:spPr>
          <a:xfrm>
            <a:off x="498766" y="1560892"/>
            <a:ext cx="588223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Métodos são blocos de código com uma responsabilidade específica. Eles tornam o programa modular, limpo e reutilizável, reduzindo erros e facilitando manutenção.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4A115F7-4BCC-B24B-827A-711D544BBBF4}"/>
              </a:ext>
            </a:extLst>
          </p:cNvPr>
          <p:cNvSpPr txBox="1"/>
          <p:nvPr/>
        </p:nvSpPr>
        <p:spPr>
          <a:xfrm>
            <a:off x="476998" y="6793408"/>
            <a:ext cx="590399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Contexto real:</a:t>
            </a:r>
            <a:br>
              <a:rPr lang="pt-BR" sz="2400" dirty="0"/>
            </a:br>
            <a:r>
              <a:rPr lang="pt-BR" sz="2400" dirty="0"/>
              <a:t>Em sistemas reais, métodos são usados para cálculos financeiros, envio de e-mails, formatação de dados, consultas a banco e validações. Sem métodos, toda lógica estaria dispersa, dificultando a leitura e criando riscos de duplicação.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003DFDD-5E04-D95E-704E-839BAC60C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999" y="3338380"/>
            <a:ext cx="5904000" cy="324720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3F7424CF-A697-0F7D-DBEA-EEAF1C04C36E}"/>
              </a:ext>
            </a:extLst>
          </p:cNvPr>
          <p:cNvSpPr/>
          <p:nvPr/>
        </p:nvSpPr>
        <p:spPr>
          <a:xfrm rot="16200000">
            <a:off x="11318" y="507130"/>
            <a:ext cx="1436192" cy="255675"/>
          </a:xfrm>
          <a:prstGeom prst="rect">
            <a:avLst/>
          </a:prstGeom>
          <a:gradFill flip="none" rotWithShape="1">
            <a:gsLst>
              <a:gs pos="0">
                <a:srgbClr val="A179DC">
                  <a:tint val="66000"/>
                  <a:satMod val="160000"/>
                </a:srgbClr>
              </a:gs>
              <a:gs pos="50000">
                <a:srgbClr val="A179DC">
                  <a:tint val="44500"/>
                  <a:satMod val="160000"/>
                </a:srgbClr>
              </a:gs>
              <a:gs pos="100000">
                <a:srgbClr val="A179DC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A179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589214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A1E74-E029-F35C-4868-60CB0FDA5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EBEBA4AB-2BAF-FF24-DEFE-281C7E26F94B}"/>
              </a:ext>
            </a:extLst>
          </p:cNvPr>
          <p:cNvSpPr txBox="1"/>
          <p:nvPr/>
        </p:nvSpPr>
        <p:spPr>
          <a:xfrm>
            <a:off x="990599" y="275846"/>
            <a:ext cx="551497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/>
              <a:t>Parâmetros Opcionais: Magia Extra Quando Precisa</a:t>
            </a:r>
            <a:endParaRPr lang="pt-BR" sz="32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611F620-9B43-70CC-4C7F-9DF74B1372BB}"/>
              </a:ext>
            </a:extLst>
          </p:cNvPr>
          <p:cNvSpPr txBox="1"/>
          <p:nvPr/>
        </p:nvSpPr>
        <p:spPr>
          <a:xfrm>
            <a:off x="477000" y="1546987"/>
            <a:ext cx="602857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Parâmetros opcionais permitem criar métodos poderosos sem exigir que o usuário preencha tudo o tempo todo. Eles adicionam comportamento extra quando necessário, mantendo simplicidade no uso.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54CE749-F74B-F27E-AD8E-E72A344009B6}"/>
              </a:ext>
            </a:extLst>
          </p:cNvPr>
          <p:cNvSpPr txBox="1"/>
          <p:nvPr/>
        </p:nvSpPr>
        <p:spPr>
          <a:xfrm>
            <a:off x="477000" y="6094892"/>
            <a:ext cx="602857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Contexto real:</a:t>
            </a:r>
            <a:br>
              <a:rPr lang="pt-BR" sz="2400" dirty="0"/>
            </a:br>
            <a:r>
              <a:rPr lang="pt-BR" sz="2400" dirty="0"/>
              <a:t>Muito útil em sistemas de notificação, onde o destino, prioridade ou contexto da mensagem pode ter valores padrão e somente ser alterado quando necessário.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DAB0410-3709-D8AF-69B1-C54D62FD7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00" y="3679902"/>
            <a:ext cx="5904000" cy="2221067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508040C1-B8C7-FA23-A181-DE8DB0C62CE7}"/>
              </a:ext>
            </a:extLst>
          </p:cNvPr>
          <p:cNvSpPr/>
          <p:nvPr/>
        </p:nvSpPr>
        <p:spPr>
          <a:xfrm rot="16200000">
            <a:off x="11318" y="507130"/>
            <a:ext cx="1436192" cy="255675"/>
          </a:xfrm>
          <a:prstGeom prst="rect">
            <a:avLst/>
          </a:prstGeom>
          <a:gradFill flip="none" rotWithShape="1">
            <a:gsLst>
              <a:gs pos="0">
                <a:srgbClr val="A179DC">
                  <a:tint val="66000"/>
                  <a:satMod val="160000"/>
                </a:srgbClr>
              </a:gs>
              <a:gs pos="50000">
                <a:srgbClr val="A179DC">
                  <a:tint val="44500"/>
                  <a:satMod val="160000"/>
                </a:srgbClr>
              </a:gs>
              <a:gs pos="100000">
                <a:srgbClr val="A179DC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A179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17280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17440-F769-F7E0-596F-9F8F2DADB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A07CAA4-FF51-DF29-E113-C3FC6450B630}"/>
              </a:ext>
            </a:extLst>
          </p:cNvPr>
          <p:cNvSpPr/>
          <p:nvPr/>
        </p:nvSpPr>
        <p:spPr>
          <a:xfrm>
            <a:off x="-178420" y="0"/>
            <a:ext cx="7337503" cy="101699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FD322F0-CC43-CC80-7A92-309C1E212EF0}"/>
              </a:ext>
            </a:extLst>
          </p:cNvPr>
          <p:cNvSpPr txBox="1"/>
          <p:nvPr/>
        </p:nvSpPr>
        <p:spPr>
          <a:xfrm>
            <a:off x="1437576" y="68198"/>
            <a:ext cx="4830342" cy="501675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32000" dirty="0">
                <a:ln w="101600" cmpd="sng">
                  <a:solidFill>
                    <a:srgbClr val="A179DC"/>
                  </a:solidFill>
                </a:ln>
                <a:latin typeface="Impact" panose="020B0806030902050204" pitchFamily="34" charset="0"/>
              </a:rPr>
              <a:t>04</a:t>
            </a:r>
            <a:endParaRPr lang="pt-BR" sz="32000" dirty="0">
              <a:ln w="101600" cmpd="sng">
                <a:solidFill>
                  <a:srgbClr val="A179DC"/>
                </a:solidFill>
              </a:ln>
              <a:latin typeface="Impact" panose="020B080603090205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0D8C497-531B-5720-5E4C-67D7D7939136}"/>
              </a:ext>
            </a:extLst>
          </p:cNvPr>
          <p:cNvSpPr txBox="1"/>
          <p:nvPr/>
        </p:nvSpPr>
        <p:spPr>
          <a:xfrm>
            <a:off x="546407" y="5269863"/>
            <a:ext cx="58878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600" dirty="0">
                <a:solidFill>
                  <a:schemeClr val="bg1"/>
                </a:solidFill>
                <a:latin typeface="Impact" panose="020B0806030902050204" pitchFamily="34" charset="0"/>
              </a:rPr>
              <a:t>Programação Orientada a Objetos</a:t>
            </a:r>
            <a:endParaRPr lang="pt-BR" sz="5600" b="1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4891E17-94E5-44D6-1FFF-8852D9A75399}"/>
              </a:ext>
            </a:extLst>
          </p:cNvPr>
          <p:cNvSpPr/>
          <p:nvPr/>
        </p:nvSpPr>
        <p:spPr>
          <a:xfrm>
            <a:off x="546407" y="8230881"/>
            <a:ext cx="5887844" cy="171900"/>
          </a:xfrm>
          <a:prstGeom prst="rect">
            <a:avLst/>
          </a:prstGeom>
          <a:gradFill flip="none" rotWithShape="1">
            <a:gsLst>
              <a:gs pos="0">
                <a:srgbClr val="A179DC">
                  <a:tint val="66000"/>
                  <a:satMod val="160000"/>
                </a:srgbClr>
              </a:gs>
              <a:gs pos="50000">
                <a:srgbClr val="A179DC">
                  <a:tint val="44500"/>
                  <a:satMod val="160000"/>
                </a:srgbClr>
              </a:gs>
              <a:gs pos="100000">
                <a:srgbClr val="A179DC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A179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75959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8D6C9-AEAD-1EDD-84B2-2B98498A6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1556DE71-9C13-9CC8-590D-F27CEA4E9E3A}"/>
              </a:ext>
            </a:extLst>
          </p:cNvPr>
          <p:cNvSpPr txBox="1"/>
          <p:nvPr/>
        </p:nvSpPr>
        <p:spPr>
          <a:xfrm>
            <a:off x="990599" y="275846"/>
            <a:ext cx="551497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/>
              <a:t>Classes e Objetos: Criando Entidades</a:t>
            </a:r>
            <a:endParaRPr lang="pt-BR" sz="32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593E69C-768B-380C-3C03-D1BC4E5CF1C8}"/>
              </a:ext>
            </a:extLst>
          </p:cNvPr>
          <p:cNvSpPr txBox="1"/>
          <p:nvPr/>
        </p:nvSpPr>
        <p:spPr>
          <a:xfrm>
            <a:off x="477000" y="1729864"/>
            <a:ext cx="5904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Classes são moldes e objetos são instâncias desses moldes. Esse conceito reflete elementos do mundo real transformados em código: produtos, usuários, transações, inimigos, personagens..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D81FB23-E692-E637-5334-528B956EDD5E}"/>
              </a:ext>
            </a:extLst>
          </p:cNvPr>
          <p:cNvSpPr txBox="1"/>
          <p:nvPr/>
        </p:nvSpPr>
        <p:spPr>
          <a:xfrm>
            <a:off x="455232" y="6603153"/>
            <a:ext cx="592576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Contexto real:</a:t>
            </a:r>
            <a:br>
              <a:rPr lang="pt-BR" sz="2400" dirty="0"/>
            </a:br>
            <a:r>
              <a:rPr lang="pt-BR" sz="2400" dirty="0"/>
              <a:t>Em sistemas bancários, cada cliente é um objeto com atributos (nome, saldo, histórico) e comportamentos (depositar, sacar, transferir). Em jogos, personagens e inimigos também são objetos que carregam dados e ações específicas.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E9C4216-EDED-4731-C63B-207AFC0AD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67" y="3867237"/>
            <a:ext cx="5904000" cy="2537535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716ACC1D-3F72-C2BE-C336-9AB8773E384D}"/>
              </a:ext>
            </a:extLst>
          </p:cNvPr>
          <p:cNvSpPr/>
          <p:nvPr/>
        </p:nvSpPr>
        <p:spPr>
          <a:xfrm rot="16200000">
            <a:off x="11318" y="507130"/>
            <a:ext cx="1436192" cy="255675"/>
          </a:xfrm>
          <a:prstGeom prst="rect">
            <a:avLst/>
          </a:prstGeom>
          <a:gradFill flip="none" rotWithShape="1">
            <a:gsLst>
              <a:gs pos="0">
                <a:srgbClr val="A179DC">
                  <a:tint val="66000"/>
                  <a:satMod val="160000"/>
                </a:srgbClr>
              </a:gs>
              <a:gs pos="50000">
                <a:srgbClr val="A179DC">
                  <a:tint val="44500"/>
                  <a:satMod val="160000"/>
                </a:srgbClr>
              </a:gs>
              <a:gs pos="100000">
                <a:srgbClr val="A179DC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A179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893540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318FE-F169-E85C-98A3-3B4E4FF4C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B7064FC1-C85C-B617-1A5F-35CFD240A365}"/>
              </a:ext>
            </a:extLst>
          </p:cNvPr>
          <p:cNvSpPr txBox="1"/>
          <p:nvPr/>
        </p:nvSpPr>
        <p:spPr>
          <a:xfrm>
            <a:off x="990599" y="275846"/>
            <a:ext cx="551497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/>
              <a:t>Métodos da Classe: Comportamentos</a:t>
            </a:r>
            <a:endParaRPr lang="pt-BR" sz="32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4D94ADE-9227-3E80-C5C7-5A788F43FEF8}"/>
              </a:ext>
            </a:extLst>
          </p:cNvPr>
          <p:cNvSpPr txBox="1"/>
          <p:nvPr/>
        </p:nvSpPr>
        <p:spPr>
          <a:xfrm>
            <a:off x="498766" y="1568531"/>
            <a:ext cx="600680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Cada classe pode ter ações próprias. Esses comportamentos são métodos que manipulam os atributos daquele objeto e determinam como ele “vive” dentro do sistema.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6168721-D5A2-E4C2-D883-969FC8445988}"/>
              </a:ext>
            </a:extLst>
          </p:cNvPr>
          <p:cNvSpPr txBox="1"/>
          <p:nvPr/>
        </p:nvSpPr>
        <p:spPr>
          <a:xfrm>
            <a:off x="498766" y="6832390"/>
            <a:ext cx="60068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Contexto real:</a:t>
            </a:r>
            <a:br>
              <a:rPr lang="pt-BR" sz="2400" dirty="0"/>
            </a:br>
            <a:r>
              <a:rPr lang="pt-BR" sz="2400" dirty="0"/>
              <a:t>Em um sistema de vendas, um produto pode ter comportamento como aplicar desconto, verificar disponibilidade ou atualizar estoque. Em jogos, um inimigo pode receber dano, atacar, fugir ou dropar itens.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9B17C8D-A7E7-05E1-59DC-77EEC9176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66" y="3353658"/>
            <a:ext cx="5904000" cy="3263265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410E5F5-53DB-C25A-D0D0-A62A0519C627}"/>
              </a:ext>
            </a:extLst>
          </p:cNvPr>
          <p:cNvSpPr/>
          <p:nvPr/>
        </p:nvSpPr>
        <p:spPr>
          <a:xfrm rot="16200000">
            <a:off x="11318" y="507130"/>
            <a:ext cx="1436192" cy="255675"/>
          </a:xfrm>
          <a:prstGeom prst="rect">
            <a:avLst/>
          </a:prstGeom>
          <a:gradFill flip="none" rotWithShape="1">
            <a:gsLst>
              <a:gs pos="0">
                <a:srgbClr val="A179DC">
                  <a:tint val="66000"/>
                  <a:satMod val="160000"/>
                </a:srgbClr>
              </a:gs>
              <a:gs pos="50000">
                <a:srgbClr val="A179DC">
                  <a:tint val="44500"/>
                  <a:satMod val="160000"/>
                </a:srgbClr>
              </a:gs>
              <a:gs pos="100000">
                <a:srgbClr val="A179DC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A179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31325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BB310-867D-274C-1CC7-50B9765AF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E7B0E96A-8D76-400A-335E-F72B4C5FCE3D}"/>
              </a:ext>
            </a:extLst>
          </p:cNvPr>
          <p:cNvSpPr txBox="1"/>
          <p:nvPr/>
        </p:nvSpPr>
        <p:spPr>
          <a:xfrm>
            <a:off x="990599" y="275846"/>
            <a:ext cx="55149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/>
              <a:t>Herança: Criando Novas Raças</a:t>
            </a:r>
            <a:endParaRPr lang="pt-BR" sz="32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EA40B9A-730C-8152-6B21-6F9E98638D2A}"/>
              </a:ext>
            </a:extLst>
          </p:cNvPr>
          <p:cNvSpPr txBox="1"/>
          <p:nvPr/>
        </p:nvSpPr>
        <p:spPr>
          <a:xfrm>
            <a:off x="477000" y="1537084"/>
            <a:ext cx="602857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/>
              <a:t>Herança permite criar uma classe base e estender comportamentos dela. Essa é uma forma poderosa de reutilizar código e criar categorias mais específicas.</a:t>
            </a:r>
            <a:endParaRPr lang="pt-BR" sz="24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43F72A4-51BF-6E1B-2A3B-0B9AEED03AD0}"/>
              </a:ext>
            </a:extLst>
          </p:cNvPr>
          <p:cNvSpPr txBox="1"/>
          <p:nvPr/>
        </p:nvSpPr>
        <p:spPr>
          <a:xfrm>
            <a:off x="477000" y="5801292"/>
            <a:ext cx="602857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Contexto real:</a:t>
            </a:r>
            <a:br>
              <a:rPr lang="pt-BR" sz="2400" dirty="0"/>
            </a:br>
            <a:r>
              <a:rPr lang="pt-BR" sz="2400" dirty="0"/>
              <a:t>Em sistemas complexos, usuários podem herdar comportamentos de uma classe genérica Pessoa. Em jogos, inimigos podem ter uma classe pai Inimigo e subclasses como </a:t>
            </a:r>
            <a:r>
              <a:rPr lang="pt-BR" sz="2400" dirty="0" err="1"/>
              <a:t>Goblin</a:t>
            </a:r>
            <a:r>
              <a:rPr lang="pt-BR" sz="2400" dirty="0"/>
              <a:t>, </a:t>
            </a:r>
            <a:r>
              <a:rPr lang="pt-BR" sz="2400" dirty="0" err="1"/>
              <a:t>Orc</a:t>
            </a:r>
            <a:r>
              <a:rPr lang="pt-BR" sz="2400" dirty="0"/>
              <a:t> e Dragão, cada uma com comportamentos especiais.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9428E0B-D92C-5706-EF87-CDE6E6F20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00" y="3167654"/>
            <a:ext cx="5904000" cy="2254759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217D425B-CEA2-EA56-CFF1-A8211EAF89C8}"/>
              </a:ext>
            </a:extLst>
          </p:cNvPr>
          <p:cNvSpPr/>
          <p:nvPr/>
        </p:nvSpPr>
        <p:spPr>
          <a:xfrm rot="16200000">
            <a:off x="11318" y="507130"/>
            <a:ext cx="1436192" cy="255675"/>
          </a:xfrm>
          <a:prstGeom prst="rect">
            <a:avLst/>
          </a:prstGeom>
          <a:gradFill flip="none" rotWithShape="1">
            <a:gsLst>
              <a:gs pos="0">
                <a:srgbClr val="A179DC">
                  <a:tint val="66000"/>
                  <a:satMod val="160000"/>
                </a:srgbClr>
              </a:gs>
              <a:gs pos="50000">
                <a:srgbClr val="A179DC">
                  <a:tint val="44500"/>
                  <a:satMod val="160000"/>
                </a:srgbClr>
              </a:gs>
              <a:gs pos="100000">
                <a:srgbClr val="A179DC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A179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081227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1A1E9-BCE4-A983-7043-0381FD8A7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D461BE2-D5B8-938E-7348-18D9C3F28063}"/>
              </a:ext>
            </a:extLst>
          </p:cNvPr>
          <p:cNvSpPr/>
          <p:nvPr/>
        </p:nvSpPr>
        <p:spPr>
          <a:xfrm>
            <a:off x="-178420" y="0"/>
            <a:ext cx="7337503" cy="101699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12B61BC-094F-FA6F-60D1-DFCA10F13EAA}"/>
              </a:ext>
            </a:extLst>
          </p:cNvPr>
          <p:cNvSpPr txBox="1"/>
          <p:nvPr/>
        </p:nvSpPr>
        <p:spPr>
          <a:xfrm>
            <a:off x="1437576" y="68198"/>
            <a:ext cx="4830342" cy="501675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32000" dirty="0">
                <a:ln w="101600" cmpd="sng">
                  <a:solidFill>
                    <a:srgbClr val="A179DC"/>
                  </a:solidFill>
                </a:ln>
                <a:latin typeface="Impact" panose="020B0806030902050204" pitchFamily="34" charset="0"/>
              </a:rPr>
              <a:t>05</a:t>
            </a:r>
            <a:endParaRPr lang="pt-BR" sz="32000" dirty="0">
              <a:ln w="101600" cmpd="sng">
                <a:solidFill>
                  <a:srgbClr val="A179DC"/>
                </a:solidFill>
              </a:ln>
              <a:latin typeface="Impact" panose="020B080603090205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241CB73-8719-D64B-6469-0B9191D4D727}"/>
              </a:ext>
            </a:extLst>
          </p:cNvPr>
          <p:cNvSpPr txBox="1"/>
          <p:nvPr/>
        </p:nvSpPr>
        <p:spPr>
          <a:xfrm>
            <a:off x="546407" y="6058968"/>
            <a:ext cx="588784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600" dirty="0">
                <a:solidFill>
                  <a:schemeClr val="bg1"/>
                </a:solidFill>
                <a:latin typeface="Impact" panose="020B0806030902050204" pitchFamily="34" charset="0"/>
              </a:rPr>
              <a:t>Trabalhando com Coleções e Dados</a:t>
            </a:r>
            <a:endParaRPr lang="pt-BR" sz="5600" b="1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EB0C03E-592D-D293-B5FE-AC34F0EF4E5E}"/>
              </a:ext>
            </a:extLst>
          </p:cNvPr>
          <p:cNvSpPr/>
          <p:nvPr/>
        </p:nvSpPr>
        <p:spPr>
          <a:xfrm>
            <a:off x="546407" y="8230881"/>
            <a:ext cx="5887844" cy="171900"/>
          </a:xfrm>
          <a:prstGeom prst="rect">
            <a:avLst/>
          </a:prstGeom>
          <a:gradFill flip="none" rotWithShape="1">
            <a:gsLst>
              <a:gs pos="0">
                <a:srgbClr val="A179DC">
                  <a:tint val="66000"/>
                  <a:satMod val="160000"/>
                </a:srgbClr>
              </a:gs>
              <a:gs pos="50000">
                <a:srgbClr val="A179DC">
                  <a:tint val="44500"/>
                  <a:satMod val="160000"/>
                </a:srgbClr>
              </a:gs>
              <a:gs pos="100000">
                <a:srgbClr val="A179DC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A179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94538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4B02C-CAA6-2E64-BF8F-39EFCD5F3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14C102DC-E7D7-1696-9F62-1D1C5D384D23}"/>
              </a:ext>
            </a:extLst>
          </p:cNvPr>
          <p:cNvSpPr txBox="1"/>
          <p:nvPr/>
        </p:nvSpPr>
        <p:spPr>
          <a:xfrm>
            <a:off x="990599" y="275846"/>
            <a:ext cx="55149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/>
              <a:t>Listas: Inventários Dinâmicos</a:t>
            </a:r>
            <a:endParaRPr lang="pt-BR" sz="32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8508B79-6504-E38B-1CD5-EE12CB529495}"/>
              </a:ext>
            </a:extLst>
          </p:cNvPr>
          <p:cNvSpPr txBox="1"/>
          <p:nvPr/>
        </p:nvSpPr>
        <p:spPr>
          <a:xfrm>
            <a:off x="477000" y="1529593"/>
            <a:ext cx="602857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Listas são fundamentais para armazenar conjuntos de dados variáveis — desde inventários de jogos até listas de produtos, usuários ou logs de sistemas.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8201F95-DCDE-F339-C154-2DD03A2C0FE1}"/>
              </a:ext>
            </a:extLst>
          </p:cNvPr>
          <p:cNvSpPr txBox="1"/>
          <p:nvPr/>
        </p:nvSpPr>
        <p:spPr>
          <a:xfrm>
            <a:off x="477000" y="6111770"/>
            <a:ext cx="602857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Contexto real:</a:t>
            </a:r>
            <a:br>
              <a:rPr lang="pt-BR" sz="2400" dirty="0"/>
            </a:br>
            <a:r>
              <a:rPr lang="pt-BR" sz="2400" dirty="0"/>
              <a:t>Uma lista pode representar carrinhos de compra, pedidos pendentes, conexões abertas ou resultados de uma consulta. É uma ferramenta indispensável para qualquer aplicação real.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284C70D-FC23-6A91-1C60-3ED9015A2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00" y="3275782"/>
            <a:ext cx="5904000" cy="2659459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70083E8C-62DD-8CEA-7390-72EB0D06145C}"/>
              </a:ext>
            </a:extLst>
          </p:cNvPr>
          <p:cNvSpPr/>
          <p:nvPr/>
        </p:nvSpPr>
        <p:spPr>
          <a:xfrm rot="16200000">
            <a:off x="11318" y="507130"/>
            <a:ext cx="1436192" cy="255675"/>
          </a:xfrm>
          <a:prstGeom prst="rect">
            <a:avLst/>
          </a:prstGeom>
          <a:gradFill flip="none" rotWithShape="1">
            <a:gsLst>
              <a:gs pos="0">
                <a:srgbClr val="A179DC">
                  <a:tint val="66000"/>
                  <a:satMod val="160000"/>
                </a:srgbClr>
              </a:gs>
              <a:gs pos="50000">
                <a:srgbClr val="A179DC">
                  <a:tint val="44500"/>
                  <a:satMod val="160000"/>
                </a:srgbClr>
              </a:gs>
              <a:gs pos="100000">
                <a:srgbClr val="A179DC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A179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781990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E3B89-E0C4-001B-CBF2-07C568A46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11A7ABCF-1BD7-D9CC-C505-884D97BDF963}"/>
              </a:ext>
            </a:extLst>
          </p:cNvPr>
          <p:cNvSpPr txBox="1"/>
          <p:nvPr/>
        </p:nvSpPr>
        <p:spPr>
          <a:xfrm>
            <a:off x="990599" y="275846"/>
            <a:ext cx="551497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/>
              <a:t>Dicionários: Dados Acessados por “Chaves Mágicas”</a:t>
            </a:r>
            <a:endParaRPr lang="pt-BR" sz="32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D46A55A-EDCA-1368-6E73-BEE879A82865}"/>
              </a:ext>
            </a:extLst>
          </p:cNvPr>
          <p:cNvSpPr txBox="1"/>
          <p:nvPr/>
        </p:nvSpPr>
        <p:spPr>
          <a:xfrm>
            <a:off x="477000" y="1645545"/>
            <a:ext cx="60285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Dicionários são coleções associativas que permitem acesso rápido a dados por meio de chaves únicas. Ideal para consultas rápidas.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26EAC06-C8FE-774F-46A4-782239ADE805}"/>
              </a:ext>
            </a:extLst>
          </p:cNvPr>
          <p:cNvSpPr txBox="1"/>
          <p:nvPr/>
        </p:nvSpPr>
        <p:spPr>
          <a:xfrm>
            <a:off x="477000" y="5160861"/>
            <a:ext cx="602857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Contexto real:</a:t>
            </a:r>
            <a:br>
              <a:rPr lang="pt-BR" sz="2400" dirty="0"/>
            </a:br>
            <a:r>
              <a:rPr lang="pt-BR" sz="2400" dirty="0"/>
              <a:t>Usado para armazenar configuração por chave, relacionar códigos de erro a mensagens, registrar níveis de permissão e criar mapas de atributos em jogos (como poder → dano).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C8AD79F-F4B5-6208-917A-E8FC34045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00" y="3053735"/>
            <a:ext cx="5904000" cy="1899265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ACEF15E1-27B5-0DBC-2B63-5BA64D70788F}"/>
              </a:ext>
            </a:extLst>
          </p:cNvPr>
          <p:cNvSpPr/>
          <p:nvPr/>
        </p:nvSpPr>
        <p:spPr>
          <a:xfrm rot="16200000">
            <a:off x="11318" y="507130"/>
            <a:ext cx="1436192" cy="255675"/>
          </a:xfrm>
          <a:prstGeom prst="rect">
            <a:avLst/>
          </a:prstGeom>
          <a:gradFill flip="none" rotWithShape="1">
            <a:gsLst>
              <a:gs pos="0">
                <a:srgbClr val="A179DC">
                  <a:tint val="66000"/>
                  <a:satMod val="160000"/>
                </a:srgbClr>
              </a:gs>
              <a:gs pos="50000">
                <a:srgbClr val="A179DC">
                  <a:tint val="44500"/>
                  <a:satMod val="160000"/>
                </a:srgbClr>
              </a:gs>
              <a:gs pos="100000">
                <a:srgbClr val="A179DC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A179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518095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34F0C-344D-F77D-FDE0-941524D2C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D0FACECB-2AC9-C2FD-5AEC-576C5F1E5A3B}"/>
              </a:ext>
            </a:extLst>
          </p:cNvPr>
          <p:cNvSpPr txBox="1"/>
          <p:nvPr/>
        </p:nvSpPr>
        <p:spPr>
          <a:xfrm>
            <a:off x="990599" y="275846"/>
            <a:ext cx="551497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/>
              <a:t>LINQ: O Encantamento Que Filtra Tudo</a:t>
            </a:r>
            <a:endParaRPr lang="pt-BR" sz="32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A0A9D7A-2002-D211-06DB-32E5A0C44D47}"/>
              </a:ext>
            </a:extLst>
          </p:cNvPr>
          <p:cNvSpPr txBox="1"/>
          <p:nvPr/>
        </p:nvSpPr>
        <p:spPr>
          <a:xfrm>
            <a:off x="477000" y="1623293"/>
            <a:ext cx="60285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LINQ é uma camada declarativa que permite filtrar, selecionar e transformar coleções de forma expressiva e otimizada.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20922D5-2023-192D-B4C7-2167D9779E45}"/>
              </a:ext>
            </a:extLst>
          </p:cNvPr>
          <p:cNvSpPr txBox="1"/>
          <p:nvPr/>
        </p:nvSpPr>
        <p:spPr>
          <a:xfrm>
            <a:off x="476999" y="5385793"/>
            <a:ext cx="602857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Contexto real:</a:t>
            </a:r>
            <a:br>
              <a:rPr lang="pt-BR" sz="2400" dirty="0"/>
            </a:br>
            <a:r>
              <a:rPr lang="pt-BR" sz="2400" dirty="0"/>
              <a:t>É a base de sistemas que analisam grandes volumes de dados: relatórios, estatísticas, processamento de logs, filtragem de transações e organização de listagens em aplicativos.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4E5EF2D-CF5D-9171-4E45-E49761213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00" y="3061598"/>
            <a:ext cx="5904000" cy="2086219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83AE64A-224B-C8A4-B8CE-EE3389F96049}"/>
              </a:ext>
            </a:extLst>
          </p:cNvPr>
          <p:cNvSpPr/>
          <p:nvPr/>
        </p:nvSpPr>
        <p:spPr>
          <a:xfrm rot="16200000">
            <a:off x="11318" y="507130"/>
            <a:ext cx="1436192" cy="255675"/>
          </a:xfrm>
          <a:prstGeom prst="rect">
            <a:avLst/>
          </a:prstGeom>
          <a:gradFill flip="none" rotWithShape="1">
            <a:gsLst>
              <a:gs pos="0">
                <a:srgbClr val="A179DC">
                  <a:tint val="66000"/>
                  <a:satMod val="160000"/>
                </a:srgbClr>
              </a:gs>
              <a:gs pos="50000">
                <a:srgbClr val="A179DC">
                  <a:tint val="44500"/>
                  <a:satMod val="160000"/>
                </a:srgbClr>
              </a:gs>
              <a:gs pos="100000">
                <a:srgbClr val="A179DC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A179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42837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96981-FF30-41D2-2B06-0B91A3881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6C6F9E22-731F-59FE-8724-2BD73F9FFB2A}"/>
              </a:ext>
            </a:extLst>
          </p:cNvPr>
          <p:cNvSpPr/>
          <p:nvPr/>
        </p:nvSpPr>
        <p:spPr>
          <a:xfrm>
            <a:off x="-178420" y="0"/>
            <a:ext cx="7337503" cy="101699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866F28-4E9C-B580-9A45-5B091EA1AA3B}"/>
              </a:ext>
            </a:extLst>
          </p:cNvPr>
          <p:cNvSpPr txBox="1"/>
          <p:nvPr/>
        </p:nvSpPr>
        <p:spPr>
          <a:xfrm>
            <a:off x="1437576" y="68198"/>
            <a:ext cx="4830342" cy="501675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32000" dirty="0">
                <a:ln w="101600" cmpd="sng">
                  <a:solidFill>
                    <a:srgbClr val="A179DC"/>
                  </a:solidFill>
                </a:ln>
                <a:latin typeface="Impact" panose="020B0806030902050204" pitchFamily="34" charset="0"/>
              </a:rPr>
              <a:t>06</a:t>
            </a:r>
            <a:endParaRPr lang="pt-BR" sz="32000" dirty="0">
              <a:ln w="101600" cmpd="sng">
                <a:solidFill>
                  <a:srgbClr val="A179DC"/>
                </a:solidFill>
              </a:ln>
              <a:latin typeface="Impact" panose="020B080603090205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B82BACA-3F8D-8441-D70E-2BEBECAC8014}"/>
              </a:ext>
            </a:extLst>
          </p:cNvPr>
          <p:cNvSpPr txBox="1"/>
          <p:nvPr/>
        </p:nvSpPr>
        <p:spPr>
          <a:xfrm>
            <a:off x="546407" y="6127870"/>
            <a:ext cx="588784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600" dirty="0">
                <a:solidFill>
                  <a:schemeClr val="bg1"/>
                </a:solidFill>
                <a:latin typeface="Impact" panose="020B0806030902050204" pitchFamily="34" charset="0"/>
              </a:rPr>
              <a:t>Manipulação de Arquivos</a:t>
            </a:r>
            <a:endParaRPr lang="pt-BR" sz="5600" b="1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7AD313F-C69E-82DB-3A0E-B086A1AC0DEC}"/>
              </a:ext>
            </a:extLst>
          </p:cNvPr>
          <p:cNvSpPr/>
          <p:nvPr/>
        </p:nvSpPr>
        <p:spPr>
          <a:xfrm>
            <a:off x="546407" y="8230881"/>
            <a:ext cx="5887844" cy="171900"/>
          </a:xfrm>
          <a:prstGeom prst="rect">
            <a:avLst/>
          </a:prstGeom>
          <a:gradFill flip="none" rotWithShape="1">
            <a:gsLst>
              <a:gs pos="0">
                <a:srgbClr val="A179DC">
                  <a:tint val="66000"/>
                  <a:satMod val="160000"/>
                </a:srgbClr>
              </a:gs>
              <a:gs pos="50000">
                <a:srgbClr val="A179DC">
                  <a:tint val="44500"/>
                  <a:satMod val="160000"/>
                </a:srgbClr>
              </a:gs>
              <a:gs pos="100000">
                <a:srgbClr val="A179DC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A179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971932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B36B3-07BF-D4D5-968D-FD756AA0F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257654C4-5572-1965-A062-C0D5148D0958}"/>
              </a:ext>
            </a:extLst>
          </p:cNvPr>
          <p:cNvSpPr txBox="1"/>
          <p:nvPr/>
        </p:nvSpPr>
        <p:spPr>
          <a:xfrm>
            <a:off x="990599" y="275846"/>
            <a:ext cx="551497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/>
              <a:t>Lendo Arquivos: Capturando Runas Antigas</a:t>
            </a:r>
            <a:endParaRPr lang="pt-BR" sz="32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62A6C26-9B35-B519-0FB7-0E4F7ABB87D1}"/>
              </a:ext>
            </a:extLst>
          </p:cNvPr>
          <p:cNvSpPr txBox="1"/>
          <p:nvPr/>
        </p:nvSpPr>
        <p:spPr>
          <a:xfrm>
            <a:off x="477000" y="1420191"/>
            <a:ext cx="602857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Sistemas reais raramente vivem apenas dentro do código. Arquivos externos guardam informações que devem ser lidas: configurações, logs, texto, dados brutos.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C3390E3-54EF-D3F0-D4EC-D7524759A936}"/>
              </a:ext>
            </a:extLst>
          </p:cNvPr>
          <p:cNvSpPr txBox="1"/>
          <p:nvPr/>
        </p:nvSpPr>
        <p:spPr>
          <a:xfrm>
            <a:off x="500042" y="5141332"/>
            <a:ext cx="602857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Contexto real:</a:t>
            </a:r>
            <a:br>
              <a:rPr lang="pt-BR" sz="2400" dirty="0"/>
            </a:br>
            <a:r>
              <a:rPr lang="pt-BR" sz="2400" dirty="0"/>
              <a:t>Automatizações utilizam leitura de arquivos CSV ou TXT para importar dados em massa, preparar relatórios, validar planilhas e integrar sistemas antigos.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CA5E37B-75EA-ADCC-0743-2C0150469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00" y="3168993"/>
            <a:ext cx="5904000" cy="1595676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5433457F-BDC9-C0DD-0C8E-61D359C3F281}"/>
              </a:ext>
            </a:extLst>
          </p:cNvPr>
          <p:cNvSpPr/>
          <p:nvPr/>
        </p:nvSpPr>
        <p:spPr>
          <a:xfrm rot="16200000">
            <a:off x="11318" y="507130"/>
            <a:ext cx="1436192" cy="255675"/>
          </a:xfrm>
          <a:prstGeom prst="rect">
            <a:avLst/>
          </a:prstGeom>
          <a:gradFill flip="none" rotWithShape="1">
            <a:gsLst>
              <a:gs pos="0">
                <a:srgbClr val="A179DC">
                  <a:tint val="66000"/>
                  <a:satMod val="160000"/>
                </a:srgbClr>
              </a:gs>
              <a:gs pos="50000">
                <a:srgbClr val="A179DC">
                  <a:tint val="44500"/>
                  <a:satMod val="160000"/>
                </a:srgbClr>
              </a:gs>
              <a:gs pos="100000">
                <a:srgbClr val="A179DC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A179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284694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BF15C-3354-D50F-4378-688EC5F86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461933A6-7947-F75E-8F9D-5A6F765B822B}"/>
              </a:ext>
            </a:extLst>
          </p:cNvPr>
          <p:cNvSpPr txBox="1"/>
          <p:nvPr/>
        </p:nvSpPr>
        <p:spPr>
          <a:xfrm>
            <a:off x="990599" y="275846"/>
            <a:ext cx="551497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/>
              <a:t>Gravando Arquivos: Criando Novos Registros</a:t>
            </a:r>
            <a:endParaRPr lang="pt-BR" sz="32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C73C633-D414-5C4E-607C-A53366AD33F8}"/>
              </a:ext>
            </a:extLst>
          </p:cNvPr>
          <p:cNvSpPr txBox="1"/>
          <p:nvPr/>
        </p:nvSpPr>
        <p:spPr>
          <a:xfrm>
            <a:off x="477000" y="1748073"/>
            <a:ext cx="590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Gerar arquivos é essencial em sistemas corporativos, principalmente logs e relatórios que serão analisados depois.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71F2233-B3B4-0C1D-B393-C99B9DFD1686}"/>
              </a:ext>
            </a:extLst>
          </p:cNvPr>
          <p:cNvSpPr txBox="1"/>
          <p:nvPr/>
        </p:nvSpPr>
        <p:spPr>
          <a:xfrm>
            <a:off x="498766" y="5284743"/>
            <a:ext cx="5904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Contexto real:</a:t>
            </a:r>
            <a:br>
              <a:rPr lang="pt-BR" sz="2400" dirty="0"/>
            </a:br>
            <a:r>
              <a:rPr lang="pt-BR" sz="2400" dirty="0"/>
              <a:t>Sistemas como </a:t>
            </a:r>
            <a:r>
              <a:rPr lang="pt-BR" sz="2400" dirty="0" err="1"/>
              <a:t>ERPs</a:t>
            </a:r>
            <a:r>
              <a:rPr lang="pt-BR" sz="2400" dirty="0"/>
              <a:t>, </a:t>
            </a:r>
            <a:r>
              <a:rPr lang="pt-BR" sz="2400" dirty="0" err="1"/>
              <a:t>CRMs</a:t>
            </a:r>
            <a:r>
              <a:rPr lang="pt-BR" sz="2400" dirty="0"/>
              <a:t> e </a:t>
            </a:r>
            <a:r>
              <a:rPr lang="pt-BR" sz="2400" dirty="0" err="1"/>
              <a:t>bots</a:t>
            </a:r>
            <a:r>
              <a:rPr lang="pt-BR" sz="2400" dirty="0"/>
              <a:t> criam logs para rastrear erros, registrar atividades e documentar eventos importantes.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7389B18-85DB-C794-0D0C-31659CE76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00" y="3389205"/>
            <a:ext cx="5904000" cy="1232053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BC8A781-F16E-221E-EED9-D53D50156051}"/>
              </a:ext>
            </a:extLst>
          </p:cNvPr>
          <p:cNvSpPr/>
          <p:nvPr/>
        </p:nvSpPr>
        <p:spPr>
          <a:xfrm rot="16200000">
            <a:off x="11318" y="507130"/>
            <a:ext cx="1436192" cy="255675"/>
          </a:xfrm>
          <a:prstGeom prst="rect">
            <a:avLst/>
          </a:prstGeom>
          <a:gradFill flip="none" rotWithShape="1">
            <a:gsLst>
              <a:gs pos="0">
                <a:srgbClr val="A179DC">
                  <a:tint val="66000"/>
                  <a:satMod val="160000"/>
                </a:srgbClr>
              </a:gs>
              <a:gs pos="50000">
                <a:srgbClr val="A179DC">
                  <a:tint val="44500"/>
                  <a:satMod val="160000"/>
                </a:srgbClr>
              </a:gs>
              <a:gs pos="100000">
                <a:srgbClr val="A179DC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A179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8107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0C9E3-CEED-AF80-A874-10E310736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4173FE4D-F4AF-77D8-9A6A-6AA4C3925F38}"/>
              </a:ext>
            </a:extLst>
          </p:cNvPr>
          <p:cNvSpPr/>
          <p:nvPr/>
        </p:nvSpPr>
        <p:spPr>
          <a:xfrm>
            <a:off x="-178420" y="0"/>
            <a:ext cx="7337503" cy="101699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861489F-2FF7-BDC4-86D6-CDDB10AF9BAA}"/>
              </a:ext>
            </a:extLst>
          </p:cNvPr>
          <p:cNvSpPr txBox="1"/>
          <p:nvPr/>
        </p:nvSpPr>
        <p:spPr>
          <a:xfrm>
            <a:off x="1437576" y="68198"/>
            <a:ext cx="4830342" cy="501675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32000" dirty="0">
                <a:ln w="101600" cmpd="sng">
                  <a:solidFill>
                    <a:srgbClr val="A179DC"/>
                  </a:solidFill>
                </a:ln>
                <a:latin typeface="Impact" panose="020B0806030902050204" pitchFamily="34" charset="0"/>
              </a:rPr>
              <a:t>07</a:t>
            </a:r>
            <a:endParaRPr lang="pt-BR" sz="32000" dirty="0">
              <a:ln w="101600" cmpd="sng">
                <a:solidFill>
                  <a:srgbClr val="A179DC"/>
                </a:solidFill>
              </a:ln>
              <a:latin typeface="Impact" panose="020B080603090205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B275782-45BE-00AD-CA47-1FD632E7DE26}"/>
              </a:ext>
            </a:extLst>
          </p:cNvPr>
          <p:cNvSpPr txBox="1"/>
          <p:nvPr/>
        </p:nvSpPr>
        <p:spPr>
          <a:xfrm>
            <a:off x="546407" y="5269863"/>
            <a:ext cx="58878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600" dirty="0">
                <a:solidFill>
                  <a:schemeClr val="bg1"/>
                </a:solidFill>
                <a:latin typeface="Impact" panose="020B0806030902050204" pitchFamily="34" charset="0"/>
              </a:rPr>
              <a:t>APIs, JSON e Automação Moderna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7B9C63E-572C-F414-8B7D-D86C6713B98D}"/>
              </a:ext>
            </a:extLst>
          </p:cNvPr>
          <p:cNvSpPr/>
          <p:nvPr/>
        </p:nvSpPr>
        <p:spPr>
          <a:xfrm>
            <a:off x="546407" y="8230881"/>
            <a:ext cx="5887844" cy="171900"/>
          </a:xfrm>
          <a:prstGeom prst="rect">
            <a:avLst/>
          </a:prstGeom>
          <a:gradFill flip="none" rotWithShape="1">
            <a:gsLst>
              <a:gs pos="0">
                <a:srgbClr val="A179DC">
                  <a:tint val="66000"/>
                  <a:satMod val="160000"/>
                </a:srgbClr>
              </a:gs>
              <a:gs pos="50000">
                <a:srgbClr val="A179DC">
                  <a:tint val="44500"/>
                  <a:satMod val="160000"/>
                </a:srgbClr>
              </a:gs>
              <a:gs pos="100000">
                <a:srgbClr val="A179DC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A179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880114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3D960-7276-CA62-E33C-85923B026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F1BC986C-2984-7229-6E44-76A6E9D30BF1}"/>
              </a:ext>
            </a:extLst>
          </p:cNvPr>
          <p:cNvSpPr txBox="1"/>
          <p:nvPr/>
        </p:nvSpPr>
        <p:spPr>
          <a:xfrm>
            <a:off x="990599" y="275846"/>
            <a:ext cx="551497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/>
              <a:t>Serializando Objetos: Transformando Classes em JSON</a:t>
            </a:r>
            <a:endParaRPr lang="pt-BR" sz="32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18DD994-7981-2D3C-4D19-6905AE1DB0BE}"/>
              </a:ext>
            </a:extLst>
          </p:cNvPr>
          <p:cNvSpPr txBox="1"/>
          <p:nvPr/>
        </p:nvSpPr>
        <p:spPr>
          <a:xfrm>
            <a:off x="477000" y="1957779"/>
            <a:ext cx="60285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Serializar é transformar objetos em formatos como JSON para enviá-los via rede, armazená-los ou transmiti-los.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8396083-6868-B17A-563B-F95B40956D74}"/>
              </a:ext>
            </a:extLst>
          </p:cNvPr>
          <p:cNvSpPr txBox="1"/>
          <p:nvPr/>
        </p:nvSpPr>
        <p:spPr>
          <a:xfrm>
            <a:off x="498767" y="5048232"/>
            <a:ext cx="602857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Contexto real:</a:t>
            </a:r>
            <a:br>
              <a:rPr lang="pt-BR" sz="2400" dirty="0"/>
            </a:br>
            <a:r>
              <a:rPr lang="pt-BR" sz="2400" dirty="0"/>
              <a:t>APIs REST usam JSON como padrão universal. Qualquer comunicação entre sistemas — seja uma fintech, marketplace ou app mobile — depende de serialização para funcionar.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7993A86-B9C9-0352-D03E-FE716C6ED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00" y="3351646"/>
            <a:ext cx="5904000" cy="1506123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6DF1A716-076A-0D2A-21E0-76233AD20902}"/>
              </a:ext>
            </a:extLst>
          </p:cNvPr>
          <p:cNvSpPr/>
          <p:nvPr/>
        </p:nvSpPr>
        <p:spPr>
          <a:xfrm rot="16200000">
            <a:off x="11318" y="507130"/>
            <a:ext cx="1436192" cy="255675"/>
          </a:xfrm>
          <a:prstGeom prst="rect">
            <a:avLst/>
          </a:prstGeom>
          <a:gradFill flip="none" rotWithShape="1">
            <a:gsLst>
              <a:gs pos="0">
                <a:srgbClr val="A179DC">
                  <a:tint val="66000"/>
                  <a:satMod val="160000"/>
                </a:srgbClr>
              </a:gs>
              <a:gs pos="50000">
                <a:srgbClr val="A179DC">
                  <a:tint val="44500"/>
                  <a:satMod val="160000"/>
                </a:srgbClr>
              </a:gs>
              <a:gs pos="100000">
                <a:srgbClr val="A179DC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A179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83409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CF221-4AD8-97B4-3715-456B45A60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3DD3077A-DE8A-B326-380B-D1CA544EA609}"/>
              </a:ext>
            </a:extLst>
          </p:cNvPr>
          <p:cNvSpPr txBox="1"/>
          <p:nvPr/>
        </p:nvSpPr>
        <p:spPr>
          <a:xfrm>
            <a:off x="990599" y="275846"/>
            <a:ext cx="551497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/>
              <a:t>Consumindo APIs: Conectando com o Mundo Real</a:t>
            </a:r>
            <a:endParaRPr lang="pt-BR" sz="32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C09DD3D-863E-AB9D-EE8B-AD594F6E30EC}"/>
              </a:ext>
            </a:extLst>
          </p:cNvPr>
          <p:cNvSpPr txBox="1"/>
          <p:nvPr/>
        </p:nvSpPr>
        <p:spPr>
          <a:xfrm>
            <a:off x="477000" y="1957779"/>
            <a:ext cx="60285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Consumir APIs permite que sua aplicação obtenha dados de outros sistemas, expandindo sua capacidade.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D2188A1-BBCA-1366-99EF-7E2B35EBFD01}"/>
              </a:ext>
            </a:extLst>
          </p:cNvPr>
          <p:cNvSpPr txBox="1"/>
          <p:nvPr/>
        </p:nvSpPr>
        <p:spPr>
          <a:xfrm>
            <a:off x="498767" y="5051307"/>
            <a:ext cx="602857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Contexto real:</a:t>
            </a:r>
            <a:br>
              <a:rPr lang="pt-BR" sz="2400" dirty="0"/>
            </a:br>
            <a:r>
              <a:rPr lang="pt-BR" sz="2400" dirty="0" err="1"/>
              <a:t>Bots</a:t>
            </a:r>
            <a:r>
              <a:rPr lang="pt-BR" sz="2400" dirty="0"/>
              <a:t> consultam APIs de câmbio, clima, redes sociais. Sistemas internos consultam APIs de pagamento, autenticação, geolocalização e mais.</a:t>
            </a:r>
          </a:p>
          <a:p>
            <a:endParaRPr lang="pt-BR" sz="24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5AF62B2-35F4-D881-3FE4-B4C498905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950" y="3615966"/>
            <a:ext cx="5904000" cy="977483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3A8850C1-2AB0-108A-5126-D0F6ABB4C6CE}"/>
              </a:ext>
            </a:extLst>
          </p:cNvPr>
          <p:cNvSpPr/>
          <p:nvPr/>
        </p:nvSpPr>
        <p:spPr>
          <a:xfrm rot="16200000">
            <a:off x="11318" y="507130"/>
            <a:ext cx="1436192" cy="255675"/>
          </a:xfrm>
          <a:prstGeom prst="rect">
            <a:avLst/>
          </a:prstGeom>
          <a:gradFill flip="none" rotWithShape="1">
            <a:gsLst>
              <a:gs pos="0">
                <a:srgbClr val="A179DC">
                  <a:tint val="66000"/>
                  <a:satMod val="160000"/>
                </a:srgbClr>
              </a:gs>
              <a:gs pos="50000">
                <a:srgbClr val="A179DC">
                  <a:tint val="44500"/>
                  <a:satMod val="160000"/>
                </a:srgbClr>
              </a:gs>
              <a:gs pos="100000">
                <a:srgbClr val="A179DC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A179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576586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DF6A3-406C-12BC-C677-F5B3A4835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C437C0C1-28A5-DB6A-F0E7-CCBEB74C9CDE}"/>
              </a:ext>
            </a:extLst>
          </p:cNvPr>
          <p:cNvSpPr/>
          <p:nvPr/>
        </p:nvSpPr>
        <p:spPr>
          <a:xfrm>
            <a:off x="-178420" y="0"/>
            <a:ext cx="7337503" cy="101699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DB870A2-735E-A650-6FAC-05855027274D}"/>
              </a:ext>
            </a:extLst>
          </p:cNvPr>
          <p:cNvSpPr txBox="1"/>
          <p:nvPr/>
        </p:nvSpPr>
        <p:spPr>
          <a:xfrm>
            <a:off x="1437576" y="68198"/>
            <a:ext cx="4830342" cy="501675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32000" dirty="0">
                <a:ln w="101600" cmpd="sng">
                  <a:solidFill>
                    <a:srgbClr val="A179DC"/>
                  </a:solidFill>
                </a:ln>
                <a:latin typeface="Impact" panose="020B0806030902050204" pitchFamily="34" charset="0"/>
              </a:rPr>
              <a:t>08</a:t>
            </a:r>
            <a:endParaRPr lang="pt-BR" sz="32000" dirty="0">
              <a:ln w="101600" cmpd="sng">
                <a:solidFill>
                  <a:srgbClr val="A179DC"/>
                </a:solidFill>
              </a:ln>
              <a:latin typeface="Impact" panose="020B080603090205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BAADF62-F0CC-60B7-1DFE-7B9E6350F954}"/>
              </a:ext>
            </a:extLst>
          </p:cNvPr>
          <p:cNvSpPr txBox="1"/>
          <p:nvPr/>
        </p:nvSpPr>
        <p:spPr>
          <a:xfrm>
            <a:off x="547069" y="6189597"/>
            <a:ext cx="588784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600" dirty="0">
                <a:solidFill>
                  <a:schemeClr val="bg1"/>
                </a:solidFill>
                <a:latin typeface="Impact" panose="020B0806030902050204" pitchFamily="34" charset="0"/>
              </a:rPr>
              <a:t>Assíncrono e Paralelismo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40A828D-9975-1C34-5A6D-A768317EEE53}"/>
              </a:ext>
            </a:extLst>
          </p:cNvPr>
          <p:cNvSpPr/>
          <p:nvPr/>
        </p:nvSpPr>
        <p:spPr>
          <a:xfrm>
            <a:off x="546407" y="8230881"/>
            <a:ext cx="5887844" cy="171900"/>
          </a:xfrm>
          <a:prstGeom prst="rect">
            <a:avLst/>
          </a:prstGeom>
          <a:gradFill flip="none" rotWithShape="1">
            <a:gsLst>
              <a:gs pos="0">
                <a:srgbClr val="A179DC">
                  <a:tint val="66000"/>
                  <a:satMod val="160000"/>
                </a:srgbClr>
              </a:gs>
              <a:gs pos="50000">
                <a:srgbClr val="A179DC">
                  <a:tint val="44500"/>
                  <a:satMod val="160000"/>
                </a:srgbClr>
              </a:gs>
              <a:gs pos="100000">
                <a:srgbClr val="A179DC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A179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063128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F4296-881D-0ADC-30DE-EF8CA20DE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07841B0B-F604-04F2-A9DF-B7F96B7B8F76}"/>
              </a:ext>
            </a:extLst>
          </p:cNvPr>
          <p:cNvSpPr txBox="1"/>
          <p:nvPr/>
        </p:nvSpPr>
        <p:spPr>
          <a:xfrm>
            <a:off x="990599" y="275846"/>
            <a:ext cx="551497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/>
              <a:t>Async/Await: Feitiços que Rendem Tempo</a:t>
            </a:r>
            <a:endParaRPr lang="pt-BR" sz="32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731E6B0-4548-7D30-BA46-D4E870865A3B}"/>
              </a:ext>
            </a:extLst>
          </p:cNvPr>
          <p:cNvSpPr txBox="1"/>
          <p:nvPr/>
        </p:nvSpPr>
        <p:spPr>
          <a:xfrm>
            <a:off x="498766" y="1600940"/>
            <a:ext cx="600680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 err="1"/>
              <a:t>Async</a:t>
            </a:r>
            <a:r>
              <a:rPr lang="pt-BR" sz="2400" dirty="0"/>
              <a:t>/</a:t>
            </a:r>
            <a:r>
              <a:rPr lang="pt-BR" sz="2400" dirty="0" err="1"/>
              <a:t>await</a:t>
            </a:r>
            <a:r>
              <a:rPr lang="pt-BR" sz="2400" dirty="0"/>
              <a:t> evita que o programa “trave” enquanto espera por processos lentos, como rede e disco. Em vez disso, libera a aplicação para continuar executando outras tarefas.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E103071-86A3-DCFE-C9A8-32B75616403C}"/>
              </a:ext>
            </a:extLst>
          </p:cNvPr>
          <p:cNvSpPr txBox="1"/>
          <p:nvPr/>
        </p:nvSpPr>
        <p:spPr>
          <a:xfrm>
            <a:off x="477000" y="5419468"/>
            <a:ext cx="600680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Contexto real:</a:t>
            </a:r>
            <a:br>
              <a:rPr lang="pt-BR" sz="2400" dirty="0"/>
            </a:br>
            <a:r>
              <a:rPr lang="pt-BR" sz="2400" dirty="0"/>
              <a:t>APIs modernas dependem de assíncrono para atender muitos usuários simultaneamente. </a:t>
            </a:r>
            <a:r>
              <a:rPr lang="pt-BR" sz="2400" dirty="0" err="1"/>
              <a:t>Bots</a:t>
            </a:r>
            <a:r>
              <a:rPr lang="pt-BR" sz="2400" dirty="0"/>
              <a:t>, dashboards e sistemas em tempo real usam </a:t>
            </a:r>
            <a:r>
              <a:rPr lang="pt-BR" sz="2400" dirty="0" err="1"/>
              <a:t>async</a:t>
            </a:r>
            <a:r>
              <a:rPr lang="pt-BR" sz="2400" dirty="0"/>
              <a:t> para evitar lentidão e gargalos.</a:t>
            </a:r>
          </a:p>
          <a:p>
            <a:endParaRPr lang="pt-BR" sz="24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9291343-8BB4-BD4B-D561-B469F0615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00" y="3285458"/>
            <a:ext cx="5904000" cy="2019152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129A930B-8BAF-F3B3-142C-D84D54D888E5}"/>
              </a:ext>
            </a:extLst>
          </p:cNvPr>
          <p:cNvSpPr/>
          <p:nvPr/>
        </p:nvSpPr>
        <p:spPr>
          <a:xfrm rot="16200000">
            <a:off x="11318" y="507130"/>
            <a:ext cx="1436192" cy="255675"/>
          </a:xfrm>
          <a:prstGeom prst="rect">
            <a:avLst/>
          </a:prstGeom>
          <a:gradFill flip="none" rotWithShape="1">
            <a:gsLst>
              <a:gs pos="0">
                <a:srgbClr val="A179DC">
                  <a:tint val="66000"/>
                  <a:satMod val="160000"/>
                </a:srgbClr>
              </a:gs>
              <a:gs pos="50000">
                <a:srgbClr val="A179DC">
                  <a:tint val="44500"/>
                  <a:satMod val="160000"/>
                </a:srgbClr>
              </a:gs>
              <a:gs pos="100000">
                <a:srgbClr val="A179DC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A179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707243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180EB-CF1E-DD7C-551B-C75723A6D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0006B4F-F960-5852-FE65-6A1BF3D87966}"/>
              </a:ext>
            </a:extLst>
          </p:cNvPr>
          <p:cNvSpPr/>
          <p:nvPr/>
        </p:nvSpPr>
        <p:spPr>
          <a:xfrm>
            <a:off x="-178420" y="0"/>
            <a:ext cx="7337503" cy="101699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70BFEC9-CC32-4B9F-529D-C204A264B057}"/>
              </a:ext>
            </a:extLst>
          </p:cNvPr>
          <p:cNvSpPr txBox="1"/>
          <p:nvPr/>
        </p:nvSpPr>
        <p:spPr>
          <a:xfrm>
            <a:off x="1437576" y="68198"/>
            <a:ext cx="4830342" cy="501675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32000" dirty="0">
                <a:ln w="101600" cmpd="sng">
                  <a:solidFill>
                    <a:srgbClr val="A179DC"/>
                  </a:solidFill>
                </a:ln>
                <a:latin typeface="Impact" panose="020B0806030902050204" pitchFamily="34" charset="0"/>
              </a:rPr>
              <a:t>09</a:t>
            </a:r>
            <a:endParaRPr lang="pt-BR" sz="32000" dirty="0">
              <a:ln w="101600" cmpd="sng">
                <a:solidFill>
                  <a:srgbClr val="A179DC"/>
                </a:solidFill>
              </a:ln>
              <a:latin typeface="Impact" panose="020B080603090205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7E0A0D3-5F6B-293A-2475-5C5E441B497C}"/>
              </a:ext>
            </a:extLst>
          </p:cNvPr>
          <p:cNvSpPr txBox="1"/>
          <p:nvPr/>
        </p:nvSpPr>
        <p:spPr>
          <a:xfrm>
            <a:off x="546407" y="6189597"/>
            <a:ext cx="588784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600" dirty="0">
                <a:solidFill>
                  <a:schemeClr val="bg1"/>
                </a:solidFill>
                <a:latin typeface="Impact" panose="020B0806030902050204" pitchFamily="34" charset="0"/>
              </a:rPr>
              <a:t>Boas Práticas do Mestre C#</a:t>
            </a:r>
            <a:endParaRPr lang="pt-BR" sz="5600" b="1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DC596C7-AD27-C519-D995-7907B31077D1}"/>
              </a:ext>
            </a:extLst>
          </p:cNvPr>
          <p:cNvSpPr/>
          <p:nvPr/>
        </p:nvSpPr>
        <p:spPr>
          <a:xfrm>
            <a:off x="546407" y="8230881"/>
            <a:ext cx="5887844" cy="171900"/>
          </a:xfrm>
          <a:prstGeom prst="rect">
            <a:avLst/>
          </a:prstGeom>
          <a:gradFill flip="none" rotWithShape="1">
            <a:gsLst>
              <a:gs pos="0">
                <a:srgbClr val="A179DC">
                  <a:tint val="66000"/>
                  <a:satMod val="160000"/>
                </a:srgbClr>
              </a:gs>
              <a:gs pos="50000">
                <a:srgbClr val="A179DC">
                  <a:tint val="44500"/>
                  <a:satMod val="160000"/>
                </a:srgbClr>
              </a:gs>
              <a:gs pos="100000">
                <a:srgbClr val="A179DC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A179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666140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D445D-2DC4-737F-18AC-71F1DA77C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820C3E02-9391-6D0C-494C-2C2A5D59B180}"/>
              </a:ext>
            </a:extLst>
          </p:cNvPr>
          <p:cNvSpPr txBox="1"/>
          <p:nvPr/>
        </p:nvSpPr>
        <p:spPr>
          <a:xfrm>
            <a:off x="990599" y="275846"/>
            <a:ext cx="551497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/>
              <a:t>Nomes Claros: Deixe o Código Falando por Si</a:t>
            </a:r>
            <a:endParaRPr lang="pt-BR" sz="32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6AB0A65-A50C-9B01-4D9E-246055FA37E8}"/>
              </a:ext>
            </a:extLst>
          </p:cNvPr>
          <p:cNvSpPr txBox="1"/>
          <p:nvPr/>
        </p:nvSpPr>
        <p:spPr>
          <a:xfrm>
            <a:off x="498766" y="1617320"/>
            <a:ext cx="600680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Nomes descritivos reduzem bugs e aumentam a vida útil do código. Um código claro exige pouca explicação.</a:t>
            </a:r>
          </a:p>
          <a:p>
            <a:endParaRPr lang="pt-BR" sz="24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FEB76EB-08C7-40B5-7FC7-99815AF5FEC4}"/>
              </a:ext>
            </a:extLst>
          </p:cNvPr>
          <p:cNvSpPr txBox="1"/>
          <p:nvPr/>
        </p:nvSpPr>
        <p:spPr>
          <a:xfrm>
            <a:off x="476999" y="6672853"/>
            <a:ext cx="600680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Contexto real:</a:t>
            </a:r>
            <a:br>
              <a:rPr lang="pt-BR" sz="2400" dirty="0"/>
            </a:br>
            <a:r>
              <a:rPr lang="pt-BR" sz="2400" dirty="0"/>
              <a:t>Equipes grandes dependem disso. Sistemas vivem anos, passam por muitos desenvolvedores e nomes mal escolhidos atrasam todo mundo.</a:t>
            </a:r>
          </a:p>
          <a:p>
            <a:endParaRPr lang="pt-BR" sz="24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E28AC93-E661-22F9-FB9E-2ADF6B9BC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00" y="2875507"/>
            <a:ext cx="5904000" cy="3710615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71E45858-C8BC-5ACC-8122-45F5FC7C3572}"/>
              </a:ext>
            </a:extLst>
          </p:cNvPr>
          <p:cNvSpPr/>
          <p:nvPr/>
        </p:nvSpPr>
        <p:spPr>
          <a:xfrm rot="16200000">
            <a:off x="11318" y="507130"/>
            <a:ext cx="1436192" cy="255675"/>
          </a:xfrm>
          <a:prstGeom prst="rect">
            <a:avLst/>
          </a:prstGeom>
          <a:gradFill flip="none" rotWithShape="1">
            <a:gsLst>
              <a:gs pos="0">
                <a:srgbClr val="A179DC">
                  <a:tint val="66000"/>
                  <a:satMod val="160000"/>
                </a:srgbClr>
              </a:gs>
              <a:gs pos="50000">
                <a:srgbClr val="A179DC">
                  <a:tint val="44500"/>
                  <a:satMod val="160000"/>
                </a:srgbClr>
              </a:gs>
              <a:gs pos="100000">
                <a:srgbClr val="A179DC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A179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813338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DC200-0DEC-9364-FC02-2FCCB94C8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8A0DB2A-7D31-7F7C-A211-03F383D5221C}"/>
              </a:ext>
            </a:extLst>
          </p:cNvPr>
          <p:cNvSpPr txBox="1"/>
          <p:nvPr/>
        </p:nvSpPr>
        <p:spPr>
          <a:xfrm>
            <a:off x="990599" y="275846"/>
            <a:ext cx="551497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Evite </a:t>
            </a:r>
            <a:r>
              <a:rPr lang="en-US" sz="3200" dirty="0" err="1"/>
              <a:t>Repetições</a:t>
            </a:r>
            <a:r>
              <a:rPr lang="en-US" sz="3200" dirty="0"/>
              <a:t>: DRY — Don't Repeat Yourself (</a:t>
            </a:r>
            <a:r>
              <a:rPr lang="en-US" sz="3200" dirty="0" err="1"/>
              <a:t>Não</a:t>
            </a:r>
            <a:r>
              <a:rPr lang="en-US" sz="3200" dirty="0"/>
              <a:t> Se Repita)</a:t>
            </a:r>
            <a:endParaRPr lang="pt-BR" sz="32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81B06C8-D735-1EAD-BD12-8338B0AC0F42}"/>
              </a:ext>
            </a:extLst>
          </p:cNvPr>
          <p:cNvSpPr txBox="1"/>
          <p:nvPr/>
        </p:nvSpPr>
        <p:spPr>
          <a:xfrm>
            <a:off x="477000" y="1957779"/>
            <a:ext cx="602857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Repetir lógica é criar múltiplos pontos de falha. Reutilização é a chave da manutenção saudável.</a:t>
            </a:r>
          </a:p>
          <a:p>
            <a:endParaRPr lang="pt-BR" sz="24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C6D8677-7B0B-8B07-0A03-F1E3FCF4255C}"/>
              </a:ext>
            </a:extLst>
          </p:cNvPr>
          <p:cNvSpPr txBox="1"/>
          <p:nvPr/>
        </p:nvSpPr>
        <p:spPr>
          <a:xfrm>
            <a:off x="476999" y="5801292"/>
            <a:ext cx="602857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Contexto real:</a:t>
            </a:r>
            <a:br>
              <a:rPr lang="pt-BR" sz="2400" dirty="0"/>
            </a:br>
            <a:r>
              <a:rPr lang="pt-BR" sz="2400" dirty="0"/>
              <a:t>Manter sistemas grandes exige modularidade. Uma regra alterada em um método central é aplicada em todo o sistema sem retrabalho.</a:t>
            </a:r>
          </a:p>
          <a:p>
            <a:endParaRPr lang="pt-BR" sz="24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0619557-A42B-2ED5-A838-B06A7A3FA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00" y="3155744"/>
            <a:ext cx="5904000" cy="2419672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13173589-890F-3D44-3FEA-0B099D855EBA}"/>
              </a:ext>
            </a:extLst>
          </p:cNvPr>
          <p:cNvSpPr/>
          <p:nvPr/>
        </p:nvSpPr>
        <p:spPr>
          <a:xfrm rot="16200000">
            <a:off x="11318" y="507130"/>
            <a:ext cx="1436192" cy="255675"/>
          </a:xfrm>
          <a:prstGeom prst="rect">
            <a:avLst/>
          </a:prstGeom>
          <a:gradFill flip="none" rotWithShape="1">
            <a:gsLst>
              <a:gs pos="0">
                <a:srgbClr val="A179DC">
                  <a:tint val="66000"/>
                  <a:satMod val="160000"/>
                </a:srgbClr>
              </a:gs>
              <a:gs pos="50000">
                <a:srgbClr val="A179DC">
                  <a:tint val="44500"/>
                  <a:satMod val="160000"/>
                </a:srgbClr>
              </a:gs>
              <a:gs pos="100000">
                <a:srgbClr val="A179DC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A179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151930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3D44A-7256-A556-03B5-1A6127153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96E18BD-7042-BD6D-A337-1B944C10E686}"/>
              </a:ext>
            </a:extLst>
          </p:cNvPr>
          <p:cNvSpPr/>
          <p:nvPr/>
        </p:nvSpPr>
        <p:spPr>
          <a:xfrm>
            <a:off x="-178420" y="0"/>
            <a:ext cx="7337503" cy="101699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C629F61-AB5A-1877-7548-1E8614867D93}"/>
              </a:ext>
            </a:extLst>
          </p:cNvPr>
          <p:cNvSpPr txBox="1"/>
          <p:nvPr/>
        </p:nvSpPr>
        <p:spPr>
          <a:xfrm>
            <a:off x="1437576" y="68198"/>
            <a:ext cx="4830342" cy="501675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32000" dirty="0">
                <a:ln w="101600" cmpd="sng">
                  <a:solidFill>
                    <a:srgbClr val="A179DC"/>
                  </a:solidFill>
                </a:ln>
                <a:latin typeface="Impact" panose="020B0806030902050204" pitchFamily="34" charset="0"/>
              </a:rPr>
              <a:t>10</a:t>
            </a:r>
            <a:endParaRPr lang="pt-BR" sz="32000" dirty="0">
              <a:ln w="101600" cmpd="sng">
                <a:solidFill>
                  <a:srgbClr val="A179DC"/>
                </a:solidFill>
              </a:ln>
              <a:latin typeface="Impact" panose="020B080603090205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41BF955-E7D0-F764-64FC-D2535A357BE9}"/>
              </a:ext>
            </a:extLst>
          </p:cNvPr>
          <p:cNvSpPr txBox="1"/>
          <p:nvPr/>
        </p:nvSpPr>
        <p:spPr>
          <a:xfrm>
            <a:off x="590082" y="4418854"/>
            <a:ext cx="588784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600" dirty="0">
                <a:solidFill>
                  <a:schemeClr val="bg1"/>
                </a:solidFill>
                <a:latin typeface="Impact" panose="020B0806030902050204" pitchFamily="34" charset="0"/>
              </a:rPr>
              <a:t>Projeto Final: Construindo um Mini Sistema Completo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85C18C2-D8F3-8047-DC1F-6D720CDBAB87}"/>
              </a:ext>
            </a:extLst>
          </p:cNvPr>
          <p:cNvSpPr/>
          <p:nvPr/>
        </p:nvSpPr>
        <p:spPr>
          <a:xfrm>
            <a:off x="546407" y="8230881"/>
            <a:ext cx="5887844" cy="171900"/>
          </a:xfrm>
          <a:prstGeom prst="rect">
            <a:avLst/>
          </a:prstGeom>
          <a:gradFill flip="none" rotWithShape="1">
            <a:gsLst>
              <a:gs pos="0">
                <a:srgbClr val="A179DC">
                  <a:tint val="66000"/>
                  <a:satMod val="160000"/>
                </a:srgbClr>
              </a:gs>
              <a:gs pos="50000">
                <a:srgbClr val="A179DC">
                  <a:tint val="44500"/>
                  <a:satMod val="160000"/>
                </a:srgbClr>
              </a:gs>
              <a:gs pos="100000">
                <a:srgbClr val="A179DC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A179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088569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4A38D-0F9B-7F0F-3CA0-34D79E1AB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72FC50D-B634-E7D2-5710-9F25FB6833C9}"/>
              </a:ext>
            </a:extLst>
          </p:cNvPr>
          <p:cNvSpPr txBox="1"/>
          <p:nvPr/>
        </p:nvSpPr>
        <p:spPr>
          <a:xfrm>
            <a:off x="990599" y="275846"/>
            <a:ext cx="551497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/>
              <a:t>Sistema de Inventário com Salvamento em Arquivo</a:t>
            </a:r>
            <a:endParaRPr lang="pt-BR" sz="32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90FAE2B-BC87-599B-38B7-F2541AF04B20}"/>
              </a:ext>
            </a:extLst>
          </p:cNvPr>
          <p:cNvSpPr txBox="1"/>
          <p:nvPr/>
        </p:nvSpPr>
        <p:spPr>
          <a:xfrm>
            <a:off x="498767" y="1444878"/>
            <a:ext cx="60068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O objetivo desse projeto é mostrar como vários conceitos se encaixam: classes, coleções, arquivos, serialização e organização.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AB5326F7-3CB9-2F0D-CA0E-5D9DD4361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301" y="4544230"/>
            <a:ext cx="5904000" cy="2716564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080BCE87-2CE0-2C9C-8470-DEA80D3D46A3}"/>
              </a:ext>
            </a:extLst>
          </p:cNvPr>
          <p:cNvSpPr txBox="1"/>
          <p:nvPr/>
        </p:nvSpPr>
        <p:spPr>
          <a:xfrm>
            <a:off x="498767" y="3749464"/>
            <a:ext cx="51489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Modelo: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D500B80-4F0D-9F94-182D-22ADC63381C5}"/>
              </a:ext>
            </a:extLst>
          </p:cNvPr>
          <p:cNvSpPr/>
          <p:nvPr/>
        </p:nvSpPr>
        <p:spPr>
          <a:xfrm rot="16200000">
            <a:off x="11318" y="507130"/>
            <a:ext cx="1436192" cy="255675"/>
          </a:xfrm>
          <a:prstGeom prst="rect">
            <a:avLst/>
          </a:prstGeom>
          <a:gradFill flip="none" rotWithShape="1">
            <a:gsLst>
              <a:gs pos="0">
                <a:srgbClr val="A179DC">
                  <a:tint val="66000"/>
                  <a:satMod val="160000"/>
                </a:srgbClr>
              </a:gs>
              <a:gs pos="50000">
                <a:srgbClr val="A179DC">
                  <a:tint val="44500"/>
                  <a:satMod val="160000"/>
                </a:srgbClr>
              </a:gs>
              <a:gs pos="100000">
                <a:srgbClr val="A179DC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A179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200613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0A8C7-CC3E-2683-D9B3-B2292CB6B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608A91C4-0A09-2E01-B5C9-0DB60F2C8944}"/>
              </a:ext>
            </a:extLst>
          </p:cNvPr>
          <p:cNvSpPr txBox="1"/>
          <p:nvPr/>
        </p:nvSpPr>
        <p:spPr>
          <a:xfrm>
            <a:off x="477000" y="706719"/>
            <a:ext cx="51489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Gerenciador: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5279C9B6-53CB-EB29-4E5D-8718BD98C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00" y="1168384"/>
            <a:ext cx="5904000" cy="3784616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B3A6944F-4241-99B6-5CCC-D83699D4D1E2}"/>
              </a:ext>
            </a:extLst>
          </p:cNvPr>
          <p:cNvSpPr txBox="1"/>
          <p:nvPr/>
        </p:nvSpPr>
        <p:spPr>
          <a:xfrm>
            <a:off x="477000" y="5198039"/>
            <a:ext cx="51489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Uso: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965CB81-1B86-2543-C5BB-3E618A668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000" y="5713720"/>
            <a:ext cx="5904000" cy="329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9877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ixaDeTexto 12">
            <a:extLst>
              <a:ext uri="{FF2B5EF4-FFF2-40B4-BE49-F238E27FC236}">
                <a16:creationId xmlns:a16="http://schemas.microsoft.com/office/drawing/2014/main" id="{E4C0CE91-829B-DE53-1D7D-D29B39992DB4}"/>
              </a:ext>
            </a:extLst>
          </p:cNvPr>
          <p:cNvSpPr txBox="1"/>
          <p:nvPr/>
        </p:nvSpPr>
        <p:spPr>
          <a:xfrm>
            <a:off x="477000" y="985458"/>
            <a:ext cx="514894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Contexto real: </a:t>
            </a:r>
          </a:p>
          <a:p>
            <a:r>
              <a:rPr lang="pt-BR" sz="2400" dirty="0"/>
              <a:t>Esse tipo de lógica aparece em sistemas de estoque, controle de ativos, dashboards, plataformas de pedidos e até mecanismos internos de jogos. Ele demonstra na prática como uma aplicação integra múltiplas áreas de conhecimento.</a:t>
            </a:r>
          </a:p>
        </p:txBody>
      </p:sp>
    </p:spTree>
    <p:extLst>
      <p:ext uri="{BB962C8B-B14F-4D97-AF65-F5344CB8AC3E}">
        <p14:creationId xmlns:p14="http://schemas.microsoft.com/office/powerpoint/2010/main" val="4720692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13FCB-EB9C-4946-D617-96812FA8B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9E05652-402C-2241-3367-2E2F514DF439}"/>
              </a:ext>
            </a:extLst>
          </p:cNvPr>
          <p:cNvSpPr/>
          <p:nvPr/>
        </p:nvSpPr>
        <p:spPr>
          <a:xfrm>
            <a:off x="-178420" y="0"/>
            <a:ext cx="7337503" cy="101699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62C6A03-DB8E-4CEC-5E57-5A4D27742597}"/>
              </a:ext>
            </a:extLst>
          </p:cNvPr>
          <p:cNvSpPr txBox="1"/>
          <p:nvPr/>
        </p:nvSpPr>
        <p:spPr>
          <a:xfrm>
            <a:off x="546407" y="3998893"/>
            <a:ext cx="58878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600" dirty="0">
                <a:solidFill>
                  <a:schemeClr val="bg1"/>
                </a:solidFill>
                <a:latin typeface="Impact" panose="020B0806030902050204" pitchFamily="34" charset="0"/>
              </a:rPr>
              <a:t>Conclusões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E9D444A-AA37-BC10-DD1F-83DB2B3D135F}"/>
              </a:ext>
            </a:extLst>
          </p:cNvPr>
          <p:cNvSpPr/>
          <p:nvPr/>
        </p:nvSpPr>
        <p:spPr>
          <a:xfrm>
            <a:off x="546407" y="5264657"/>
            <a:ext cx="5887844" cy="171900"/>
          </a:xfrm>
          <a:prstGeom prst="rect">
            <a:avLst/>
          </a:prstGeom>
          <a:gradFill flip="none" rotWithShape="1">
            <a:gsLst>
              <a:gs pos="0">
                <a:srgbClr val="A179DC">
                  <a:tint val="66000"/>
                  <a:satMod val="160000"/>
                </a:srgbClr>
              </a:gs>
              <a:gs pos="50000">
                <a:srgbClr val="A179DC">
                  <a:tint val="44500"/>
                  <a:satMod val="160000"/>
                </a:srgbClr>
              </a:gs>
              <a:gs pos="100000">
                <a:srgbClr val="A179DC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A179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813034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52135535-A86F-D384-6527-64A06649A7AC}"/>
              </a:ext>
            </a:extLst>
          </p:cNvPr>
          <p:cNvSpPr txBox="1"/>
          <p:nvPr/>
        </p:nvSpPr>
        <p:spPr>
          <a:xfrm>
            <a:off x="410092" y="659517"/>
            <a:ext cx="6037816" cy="858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Ao longo deste material, você explorou os fundamentos e os mecanismos mais importantes que formam a base do desenvolvimento em C#. Viu como a linguagem combina clareza, poder e organização para permitir que qualquer desenvolvedor — iniciante ou avançado — construa soluções modernas, escaláveis e alinhadas com desafios reais do mercado. Cada conceito apresentado foi pensado para mostrar como C# não é apenas uma linguagem, mas uma ferramenta estratégica capaz de transformar ideias em sistemas concretos, eficientes e bem estruturados.</a:t>
            </a:r>
          </a:p>
          <a:p>
            <a:r>
              <a:rPr lang="pt-BR" sz="2400" dirty="0"/>
              <a:t>Este conteúdo foi criado com o apoio de inteligência artificial, garantindo objetividade, fluidez e abordagem didática. A partir daqui, o próximo passo é aplicar esse conhecimento em seus próprios projetos, testar, errar, ajustar e evoluir. Dominar C# é um processo contínuo — e agora você já possui um guia sólido para seguir avançando, criando código com propósito, clareza e confiança.</a:t>
            </a:r>
          </a:p>
        </p:txBody>
      </p:sp>
    </p:spTree>
    <p:extLst>
      <p:ext uri="{BB962C8B-B14F-4D97-AF65-F5344CB8AC3E}">
        <p14:creationId xmlns:p14="http://schemas.microsoft.com/office/powerpoint/2010/main" val="26108156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370</TotalTime>
  <Words>1905</Words>
  <Application>Microsoft Office PowerPoint</Application>
  <PresentationFormat>Papel A4 (210 x 297 mm)</PresentationFormat>
  <Paragraphs>103</Paragraphs>
  <Slides>38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38</vt:i4>
      </vt:variant>
    </vt:vector>
  </HeadingPairs>
  <TitlesOfParts>
    <vt:vector size="44" baseType="lpstr">
      <vt:lpstr>Arial</vt:lpstr>
      <vt:lpstr>Calibri</vt:lpstr>
      <vt:lpstr>Calibri Light</vt:lpstr>
      <vt:lpstr>Impact</vt:lpstr>
      <vt:lpstr>Microsoft Sans Serif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</dc:creator>
  <cp:lastModifiedBy>Don</cp:lastModifiedBy>
  <cp:revision>5</cp:revision>
  <dcterms:created xsi:type="dcterms:W3CDTF">2025-11-16T17:23:29Z</dcterms:created>
  <dcterms:modified xsi:type="dcterms:W3CDTF">2025-11-16T23:34:01Z</dcterms:modified>
</cp:coreProperties>
</file>